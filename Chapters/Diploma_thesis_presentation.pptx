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heme/theme2.xml" ContentType="application/vnd.openxmlformats-officedocument.them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heme/theme3.xml" ContentType="application/vnd.openxmlformats-officedocument.them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1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2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3.xml" ContentType="application/vnd.openxmlformats-officedocument.presentationml.notesSlid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4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89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3744" r:id="rId3"/>
    <p:sldId id="3743" r:id="rId4"/>
    <p:sldId id="268" r:id="rId5"/>
    <p:sldId id="3747" r:id="rId6"/>
    <p:sldId id="3746" r:id="rId7"/>
  </p:sldIdLst>
  <p:sldSz cx="12192000" cy="6858000"/>
  <p:notesSz cx="6858000" cy="9144000"/>
  <p:embeddedFontLst>
    <p:embeddedFont>
      <p:font typeface="Algerian" panose="04020705040A02060702" pitchFamily="82" charset="0"/>
      <p:regular r:id="rId10"/>
    </p:embeddedFont>
    <p:embeddedFont>
      <p:font typeface="Cambria Math" panose="02040503050406030204" pitchFamily="18" charset="0"/>
      <p:regular r:id="rId11"/>
    </p:embeddedFont>
  </p:embeddedFontLst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usterfolien" id="{54CF9CB4-6EDB-4AC2-9AFB-EFC6E4817A6D}">
          <p14:sldIdLst>
            <p14:sldId id="257"/>
            <p14:sldId id="3744"/>
            <p14:sldId id="3743"/>
            <p14:sldId id="268"/>
            <p14:sldId id="3747"/>
            <p14:sldId id="3746"/>
          </p14:sldIdLst>
        </p14:section>
        <p14:section name="Standardabschnitt" id="{DFA7A10C-E1EB-4972-AB36-D2ACD314A82C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2160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ina Drimmel" initials="CD" lastIdx="132" clrIdx="0">
    <p:extLst>
      <p:ext uri="{19B8F6BF-5375-455C-9EA6-DF929625EA0E}">
        <p15:presenceInfo xmlns:p15="http://schemas.microsoft.com/office/powerpoint/2012/main" userId="Christina Drimmel" providerId="None"/>
      </p:ext>
    </p:extLst>
  </p:cmAuthor>
  <p:cmAuthor id="2" name="Springer" initials="S" lastIdx="18" clrIdx="1">
    <p:extLst>
      <p:ext uri="{19B8F6BF-5375-455C-9EA6-DF929625EA0E}">
        <p15:presenceInfo xmlns:p15="http://schemas.microsoft.com/office/powerpoint/2012/main" userId="Springer" providerId="None"/>
      </p:ext>
    </p:extLst>
  </p:cmAuthor>
  <p:cmAuthor id="3" name="Sebastian" initials="S" lastIdx="33" clrIdx="2">
    <p:extLst>
      <p:ext uri="{19B8F6BF-5375-455C-9EA6-DF929625EA0E}">
        <p15:presenceInfo xmlns:p15="http://schemas.microsoft.com/office/powerpoint/2012/main" userId="Sebasti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AFC9"/>
    <a:srgbClr val="7DA4C1"/>
    <a:srgbClr val="6190B3"/>
    <a:srgbClr val="4C7B9E"/>
    <a:srgbClr val="3E6582"/>
    <a:srgbClr val="BAC7D5"/>
    <a:srgbClr val="456F90"/>
    <a:srgbClr val="8CA6BF"/>
    <a:srgbClr val="A4B7CA"/>
    <a:srgbClr val="4B78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28" autoAdjust="0"/>
  </p:normalViewPr>
  <p:slideViewPr>
    <p:cSldViewPr snapToGrid="0" showGuides="1">
      <p:cViewPr varScale="1">
        <p:scale>
          <a:sx n="151" d="100"/>
          <a:sy n="151" d="100"/>
        </p:scale>
        <p:origin x="630" y="3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9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036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heme" Target="../theme/theme3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B6B62FD-DEA5-4016-A686-92BD436E4AF0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>
              <a:latin typeface="Arial" panose="020B0604020202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D031BE-D109-46DC-97CA-86C8CC80DEF3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92F50-EEFB-414C-A5B9-E53AB6640962}" type="datetimeFigureOut">
              <a:rPr lang="de-AT" smtClean="0">
                <a:latin typeface="Arial" panose="020B0604020202020204" pitchFamily="34" charset="0"/>
              </a:rPr>
              <a:t>05.01.2026</a:t>
            </a:fld>
            <a:endParaRPr lang="de-AT" dirty="0"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E70E89-9D63-4AE7-AA10-359BADF98E1C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>
              <a:latin typeface="Arial" panose="020B0604020202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848377-D64A-4E24-83A8-537299BF9731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C977-CDE1-48A9-8E7D-2B9A79EDCF35}" type="slidenum">
              <a:rPr lang="de-AT" smtClean="0">
                <a:latin typeface="Arial" panose="020B0604020202020204" pitchFamily="34" charset="0"/>
              </a:rPr>
              <a:t>‹#›</a:t>
            </a:fld>
            <a:endParaRPr lang="de-AT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379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2" Type="http://schemas.openxmlformats.org/officeDocument/2006/relationships/tags" Target="../tags/tag167.xml"/><Relationship Id="rId1" Type="http://schemas.openxmlformats.org/officeDocument/2006/relationships/theme" Target="../theme/theme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AT" dirty="0">
                <a:latin typeface="Arial" panose="020B0604020202020204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116C0E1-FA71-4E92-9BA0-377972D4F09A}" type="datetimeFigureOut">
              <a:rPr lang="de-AT" smtClean="0"/>
              <a:pPr/>
              <a:t>05.01.2026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 dirty="0"/>
              <a:t>Mastertextformat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AT" dirty="0">
                <a:latin typeface="Arial" panose="020B0604020202020204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D8BEB3B-C5EA-45F3-97F0-E17E2A187F46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9051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" Target="../slides/slide2.xml"/><Relationship Id="rId4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5" Type="http://schemas.openxmlformats.org/officeDocument/2006/relationships/slide" Target="../slides/slide4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DD8BEB3B-C5EA-45F3-97F0-E17E2A187F46}" type="slidenum">
              <a:rPr lang="de-AT" smtClean="0"/>
              <a:t>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2298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6EFA-4D42-D739-3027-34AA5AEEA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AF1F0E-E70D-C9AC-9CB3-0507EADB15DB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51E192-07D2-A7C5-E405-2012877A240A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6F15EC-E7B2-8328-540F-84C26233A6E0}"/>
              </a:ext>
            </a:extLst>
          </p:cNvPr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DD8BEB3B-C5EA-45F3-97F0-E17E2A187F46}" type="slidenum">
              <a:rPr lang="de-AT" smtClean="0"/>
              <a:t>2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64672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D6BE-19CD-D8C6-0F93-3A488A81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9763FF-B260-58BD-E7A5-F41D812CABE3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93603D-04B1-3C7F-42C1-3177FF6E6CDE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16FD14-91AD-7233-BAA1-864F57E502DB}"/>
              </a:ext>
            </a:extLst>
          </p:cNvPr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DD8BEB3B-C5EA-45F3-97F0-E17E2A187F46}" type="slidenum">
              <a:rPr lang="de-AT" smtClean="0"/>
              <a:t>3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83313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DD8BEB3B-C5EA-45F3-97F0-E17E2A187F46}" type="slidenum">
              <a:rPr lang="de-AT" smtClean="0"/>
              <a:t>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37608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2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5.svg"/><Relationship Id="rId4" Type="http://schemas.openxmlformats.org/officeDocument/2006/relationships/tags" Target="../tags/tag14.xml"/><Relationship Id="rId9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2.svg"/><Relationship Id="rId4" Type="http://schemas.openxmlformats.org/officeDocument/2006/relationships/tags" Target="../tags/tag43.xml"/><Relationship Id="rId9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2.svg"/><Relationship Id="rId5" Type="http://schemas.openxmlformats.org/officeDocument/2006/relationships/tags" Target="../tags/tag51.xml"/><Relationship Id="rId10" Type="http://schemas.openxmlformats.org/officeDocument/2006/relationships/image" Target="../media/image1.png"/><Relationship Id="rId4" Type="http://schemas.openxmlformats.org/officeDocument/2006/relationships/tags" Target="../tags/tag50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2.svg"/><Relationship Id="rId5" Type="http://schemas.openxmlformats.org/officeDocument/2006/relationships/tags" Target="../tags/tag59.xml"/><Relationship Id="rId10" Type="http://schemas.openxmlformats.org/officeDocument/2006/relationships/image" Target="../media/image1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65.xml"/><Relationship Id="rId7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0.xml"/><Relationship Id="rId7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2.sv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6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9.xml"/><Relationship Id="rId7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7" Type="http://schemas.openxmlformats.org/officeDocument/2006/relationships/image" Target="../media/image7.sv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7" Type="http://schemas.openxmlformats.org/officeDocument/2006/relationships/image" Target="../media/image7.sv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9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10" Type="http://schemas.openxmlformats.org/officeDocument/2006/relationships/image" Target="../media/image7.svg"/><Relationship Id="rId4" Type="http://schemas.openxmlformats.org/officeDocument/2006/relationships/tags" Target="../tags/tag126.xml"/><Relationship Id="rId9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10" Type="http://schemas.openxmlformats.org/officeDocument/2006/relationships/image" Target="../media/image7.svg"/><Relationship Id="rId4" Type="http://schemas.openxmlformats.org/officeDocument/2006/relationships/tags" Target="../tags/tag133.xml"/><Relationship Id="rId9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image" Target="../media/image7.svg"/><Relationship Id="rId5" Type="http://schemas.openxmlformats.org/officeDocument/2006/relationships/tags" Target="../tags/tag141.xml"/><Relationship Id="rId10" Type="http://schemas.openxmlformats.org/officeDocument/2006/relationships/image" Target="../media/image6.png"/><Relationship Id="rId4" Type="http://schemas.openxmlformats.org/officeDocument/2006/relationships/tags" Target="../tags/tag140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147.xml"/><Relationship Id="rId7" Type="http://schemas.openxmlformats.org/officeDocument/2006/relationships/image" Target="../media/image6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9.xml"/><Relationship Id="rId4" Type="http://schemas.openxmlformats.org/officeDocument/2006/relationships/tags" Target="../tags/tag148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152.xml"/><Relationship Id="rId7" Type="http://schemas.openxmlformats.org/officeDocument/2006/relationships/image" Target="../media/image6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7" Type="http://schemas.openxmlformats.org/officeDocument/2006/relationships/image" Target="../media/image7.svg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8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161.xml"/><Relationship Id="rId7" Type="http://schemas.openxmlformats.org/officeDocument/2006/relationships/image" Target="../media/image6.png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3.xml"/><Relationship Id="rId4" Type="http://schemas.openxmlformats.org/officeDocument/2006/relationships/tags" Target="../tags/tag16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Logo der Technischen Universität Wien">
            <a:extLst>
              <a:ext uri="{FF2B5EF4-FFF2-40B4-BE49-F238E27FC236}">
                <a16:creationId xmlns:a16="http://schemas.microsoft.com/office/drawing/2014/main" id="{4F515961-5FE0-48A5-A350-239B3180909B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226F95A-C572-4753-9A21-DBF6531D5F3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308100" y="2276475"/>
            <a:ext cx="9577388" cy="1524000"/>
          </a:xfrm>
        </p:spPr>
        <p:txBody>
          <a:bodyPr lIns="0" tIns="0" rIns="0" bIns="0" anchor="b">
            <a:noAutofit/>
          </a:bodyPr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DE19F1-4351-4A07-8662-A968E8A450FD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308100" y="3971926"/>
            <a:ext cx="9577388" cy="11049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de-AT" dirty="0"/>
              <a:t>Untertitel (Datum, Ort, Name, ...)</a:t>
            </a:r>
          </a:p>
        </p:txBody>
      </p:sp>
      <p:sp>
        <p:nvSpPr>
          <p:cNvPr id="40" name="Textplatzhalter 4">
            <a:extLst>
              <a:ext uri="{FF2B5EF4-FFF2-40B4-BE49-F238E27FC236}">
                <a16:creationId xmlns:a16="http://schemas.microsoft.com/office/drawing/2014/main" id="{7A5D3C4D-4D39-4C8C-BFBF-C7829831878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35103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4BB5D645-0874-4ED8-A93C-F4A358067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1502"/>
          <a:stretch/>
        </p:blipFill>
        <p:spPr>
          <a:xfrm>
            <a:off x="0" y="3312"/>
            <a:ext cx="12192000" cy="6063380"/>
          </a:xfrm>
          <a:prstGeom prst="rect">
            <a:avLst/>
          </a:prstGeom>
        </p:spPr>
      </p:pic>
      <p:pic>
        <p:nvPicPr>
          <p:cNvPr id="50" name="Grafik 49" descr="Logo der Technischen Universität Wien">
            <a:extLst>
              <a:ext uri="{FF2B5EF4-FFF2-40B4-BE49-F238E27FC236}">
                <a16:creationId xmlns:a16="http://schemas.microsoft.com/office/drawing/2014/main" id="{B9752043-E0A7-4A49-ABCE-FA89B17A8BB8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68287" y="467692"/>
            <a:ext cx="1939882" cy="7329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3701E1D-9FD1-42AD-91DE-DF5BA9B4DB6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 bwMode="white">
          <a:xfrm>
            <a:off x="461963" y="4438899"/>
            <a:ext cx="10134599" cy="10395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029DDD8-08D2-4AD9-B5F0-E6CCC5954B07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461963" y="5550408"/>
            <a:ext cx="10134600" cy="3455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bg1"/>
                </a:solidFill>
              </a:defRPr>
            </a:lvl2pPr>
            <a:lvl3pPr marL="269875" indent="0">
              <a:buNone/>
              <a:defRPr sz="2400">
                <a:solidFill>
                  <a:schemeClr val="bg1"/>
                </a:solidFill>
              </a:defRPr>
            </a:lvl3pPr>
            <a:lvl4pPr marL="538162" indent="0">
              <a:buNone/>
              <a:defRPr sz="2400">
                <a:solidFill>
                  <a:schemeClr val="bg1"/>
                </a:solidFill>
              </a:defRPr>
            </a:lvl4pPr>
            <a:lvl5pPr marL="903288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de-AT" dirty="0"/>
              <a:t>Untertitel (Datum, Ort, Name, ...)</a:t>
            </a:r>
          </a:p>
        </p:txBody>
      </p:sp>
      <p:sp>
        <p:nvSpPr>
          <p:cNvPr id="46" name="Textplatzhalter 42">
            <a:extLst>
              <a:ext uri="{FF2B5EF4-FFF2-40B4-BE49-F238E27FC236}">
                <a16:creationId xmlns:a16="http://schemas.microsoft.com/office/drawing/2014/main" id="{065FC1A0-E07C-4B15-AC25-3575EBB8EEAA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7247493" y="6050376"/>
            <a:ext cx="4465082" cy="171450"/>
          </a:xfrm>
        </p:spPr>
        <p:txBody>
          <a:bodyPr anchor="b"/>
          <a:lstStyle>
            <a:lvl1pPr algn="r">
              <a:buNone/>
              <a:defRPr sz="800" cap="all" baseline="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algn="r">
              <a:buNone/>
            </a:pPr>
            <a:r>
              <a:rPr lang="de-AT" dirty="0"/>
              <a:t>© Copyright-Info, Quelle, …</a:t>
            </a:r>
          </a:p>
        </p:txBody>
      </p:sp>
      <p:sp>
        <p:nvSpPr>
          <p:cNvPr id="48" name="Textplatzhalter 4">
            <a:extLst>
              <a:ext uri="{FF2B5EF4-FFF2-40B4-BE49-F238E27FC236}">
                <a16:creationId xmlns:a16="http://schemas.microsoft.com/office/drawing/2014/main" id="{178BDD75-53A6-43C6-8C0C-26F0514FCFC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352968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 descr="Logo der Technischen Universität Wien">
            <a:extLst>
              <a:ext uri="{FF2B5EF4-FFF2-40B4-BE49-F238E27FC236}">
                <a16:creationId xmlns:a16="http://schemas.microsoft.com/office/drawing/2014/main" id="{98735E1B-0541-4A0E-9FE3-B087FEBC9257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26FE97BF-50D8-4DF7-BDB0-2CE0DB6CB7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1549399"/>
            <a:ext cx="928949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2628900"/>
            <a:ext cx="9288463" cy="3095625"/>
          </a:xfrm>
        </p:spPr>
        <p:txBody>
          <a:bodyPr/>
          <a:lstStyle>
            <a:lvl1pPr>
              <a:buClr>
                <a:schemeClr val="accent1"/>
              </a:buClr>
              <a:defRPr lang="de-AT" dirty="0"/>
            </a:lvl1pPr>
            <a:lvl2pPr>
              <a:buClr>
                <a:schemeClr val="accent1"/>
              </a:buClr>
              <a:defRPr lang="de-AT" dirty="0"/>
            </a:lvl2pPr>
            <a:lvl3pPr>
              <a:buClr>
                <a:schemeClr val="accent1"/>
              </a:buClr>
              <a:defRPr lang="de-AT" dirty="0"/>
            </a:lvl3pPr>
            <a:lvl4pPr>
              <a:buClr>
                <a:schemeClr val="accent1"/>
              </a:buClr>
              <a:defRPr lang="de-AT" dirty="0"/>
            </a:lvl4pPr>
            <a:lvl5pPr>
              <a:buClr>
                <a:schemeClr val="accent1"/>
              </a:buClr>
              <a:defRPr lang="de-AT" dirty="0"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AB39C453-1E66-49C6-A96C-112E158D898D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3B606A-DCE3-4B26-81CB-18C2E897C8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F75537-0A25-4CFA-A3B7-13DE6D8B98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44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2-spa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 descr="Logo der Technischen Universität Wien">
            <a:extLst>
              <a:ext uri="{FF2B5EF4-FFF2-40B4-BE49-F238E27FC236}">
                <a16:creationId xmlns:a16="http://schemas.microsoft.com/office/drawing/2014/main" id="{A4D9C9F8-301E-4CFC-8B8A-DEDA2C5FE76E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1800308-609F-43F8-A26B-1C8A6934DB3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1549399"/>
            <a:ext cx="928949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2628900"/>
            <a:ext cx="9288463" cy="3095625"/>
          </a:xfrm>
        </p:spPr>
        <p:txBody>
          <a:bodyPr numCol="2" spcCol="540000"/>
          <a:lstStyle>
            <a:lvl1pPr>
              <a:buClr>
                <a:schemeClr val="accent1"/>
              </a:buClr>
              <a:defRPr lang="de-AT" dirty="0"/>
            </a:lvl1pPr>
            <a:lvl2pPr>
              <a:buClr>
                <a:schemeClr val="accent1"/>
              </a:buClr>
              <a:defRPr lang="de-AT" dirty="0"/>
            </a:lvl2pPr>
            <a:lvl3pPr>
              <a:buClr>
                <a:schemeClr val="accent1"/>
              </a:buClr>
              <a:defRPr lang="de-AT" dirty="0"/>
            </a:lvl3pPr>
            <a:lvl4pPr>
              <a:buClr>
                <a:schemeClr val="accent1"/>
              </a:buClr>
              <a:defRPr lang="de-AT" dirty="0"/>
            </a:lvl4pPr>
            <a:lvl5pPr>
              <a:buClr>
                <a:schemeClr val="accent1"/>
              </a:buClr>
              <a:defRPr lang="de-AT" dirty="0"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E46D94CB-4BAE-48DA-827F-D9056A475D34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3E4034-6935-4B71-9A67-0E435E534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D50658-ABE2-461D-84EF-37BA96365E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0547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fik 43" descr="Logo der Technischen Universität Wien">
            <a:extLst>
              <a:ext uri="{FF2B5EF4-FFF2-40B4-BE49-F238E27FC236}">
                <a16:creationId xmlns:a16="http://schemas.microsoft.com/office/drawing/2014/main" id="{A7466A94-84E9-488D-9FEA-54A799BB8F63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7994A365-AC87-4177-BCC2-611ADD06E3C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8" y="1549399"/>
            <a:ext cx="9578419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F29669C5-6473-4DB6-A3D0-5DBCA391D293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1307069" y="2628900"/>
            <a:ext cx="4465081" cy="3103562"/>
          </a:xfrm>
        </p:spPr>
        <p:txBody>
          <a:bodyPr/>
          <a:lstStyle>
            <a:lvl1pPr marL="0" indent="0">
              <a:buClr>
                <a:schemeClr val="tx2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tx2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914CD1B9-8EAD-4E64-B937-2191518FA7B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3467B23B-DD93-4CED-BBFA-9278E3AD673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418246" y="2628900"/>
            <a:ext cx="4465081" cy="3103562"/>
          </a:xfrm>
        </p:spPr>
        <p:txBody>
          <a:bodyPr/>
          <a:lstStyle>
            <a:lvl1pPr marL="0" indent="0">
              <a:buClr>
                <a:schemeClr val="tx2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tx2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7" name="Textplatzhalter 6">
            <a:extLst>
              <a:ext uri="{FF2B5EF4-FFF2-40B4-BE49-F238E27FC236}">
                <a16:creationId xmlns:a16="http://schemas.microsoft.com/office/drawing/2014/main" id="{40AACBD9-D144-47D8-BF22-75B6B84380F3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6"/>
            </p:custDataLst>
          </p:nvPr>
        </p:nvSpPr>
        <p:spPr>
          <a:xfrm>
            <a:off x="6419327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34CED7-D00E-4574-8CD5-1FA88AC3EA9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125049-6367-4C75-8FB6-5DE528AB6A1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7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Logo der Technischen Universität Wien">
            <a:extLst>
              <a:ext uri="{FF2B5EF4-FFF2-40B4-BE49-F238E27FC236}">
                <a16:creationId xmlns:a16="http://schemas.microsoft.com/office/drawing/2014/main" id="{F00D7A92-5520-4010-997D-C3C16905376F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241BC17-C220-4886-BD60-87072EB6111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1549399"/>
            <a:ext cx="9269084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3E7E8-1933-4C21-BF6B-D51AF4E4672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308100" y="2628900"/>
            <a:ext cx="926908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403E22A-F459-43A1-AB6C-BD735B41F1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833629F-A04C-410B-858F-2375C6E7FB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5711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44" descr="Logo der Technischen Universität Wien">
            <a:extLst>
              <a:ext uri="{FF2B5EF4-FFF2-40B4-BE49-F238E27FC236}">
                <a16:creationId xmlns:a16="http://schemas.microsoft.com/office/drawing/2014/main" id="{6EA20A8E-3CA3-4F5D-8861-97A51D3F6533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1F24D4FE-3C5E-4183-ACAE-90DCD19448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70" y="1549399"/>
            <a:ext cx="957841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7069" y="2628900"/>
            <a:ext cx="4465082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DBDE5BD8-2226-45B1-BEC6-F35C7B6AF3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6424937" y="2628900"/>
            <a:ext cx="4459997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7" name="Textplatzhalter 6">
            <a:extLst>
              <a:ext uri="{FF2B5EF4-FFF2-40B4-BE49-F238E27FC236}">
                <a16:creationId xmlns:a16="http://schemas.microsoft.com/office/drawing/2014/main" id="{701ADA35-279E-492B-B021-30E7C8352F7A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6"/>
            </p:custDataLst>
          </p:nvPr>
        </p:nvSpPr>
        <p:spPr>
          <a:xfrm>
            <a:off x="6419327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027492-3CB4-4D02-9A01-189D751466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D27729-9276-4DB3-AF92-EA11DF36B7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9369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mit Titel und 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47" descr="Logo der Technischen Universität Wien">
            <a:extLst>
              <a:ext uri="{FF2B5EF4-FFF2-40B4-BE49-F238E27FC236}">
                <a16:creationId xmlns:a16="http://schemas.microsoft.com/office/drawing/2014/main" id="{0070AC2A-BF7C-4825-9DC2-F4E94C492039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1F24D4FE-3C5E-4183-ACAE-90DCD19448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70" y="1549399"/>
            <a:ext cx="957841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FEDB697-75F4-40C0-9433-E49B99644D2C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3"/>
            </p:custDataLst>
          </p:nvPr>
        </p:nvSpPr>
        <p:spPr>
          <a:xfrm>
            <a:off x="1306513" y="2635386"/>
            <a:ext cx="9578975" cy="412400"/>
          </a:xfrm>
        </p:spPr>
        <p:txBody>
          <a:bodyPr vert="horz" lIns="0" tIns="0" rIns="0" bIns="0" rtlCol="0">
            <a:noAutofit/>
          </a:bodyPr>
          <a:lstStyle>
            <a:lvl1pPr>
              <a:defRPr lang="de-DE" b="1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>
              <a:buNone/>
            </a:pPr>
            <a:r>
              <a:rPr lang="de-AT" dirty="0"/>
              <a:t>Zwischentitel</a:t>
            </a:r>
          </a:p>
        </p:txBody>
      </p:sp>
      <p:sp>
        <p:nvSpPr>
          <p:cNvPr id="45" name="Inhaltsplatzhalter 2">
            <a:extLst>
              <a:ext uri="{FF2B5EF4-FFF2-40B4-BE49-F238E27FC236}">
                <a16:creationId xmlns:a16="http://schemas.microsoft.com/office/drawing/2014/main" id="{9824CDBD-05FF-44D6-AFB9-1597F69DA601}"/>
              </a:ext>
            </a:extLst>
          </p:cNvPr>
          <p:cNvSpPr>
            <a:spLocks noGrp="1"/>
          </p:cNvSpPr>
          <p:nvPr>
            <p:ph sz="half" idx="21" hasCustomPrompt="1"/>
            <p:custDataLst>
              <p:tags r:id="rId4"/>
            </p:custDataLst>
          </p:nvPr>
        </p:nvSpPr>
        <p:spPr>
          <a:xfrm>
            <a:off x="1307069" y="3047786"/>
            <a:ext cx="4465082" cy="267673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4BC4CB93-0EDA-40F6-A82A-7933C7369F6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6" name="Inhaltsplatzhalter 3">
            <a:extLst>
              <a:ext uri="{FF2B5EF4-FFF2-40B4-BE49-F238E27FC236}">
                <a16:creationId xmlns:a16="http://schemas.microsoft.com/office/drawing/2014/main" id="{CF7679A8-5D7D-4C63-A562-FF2DD8258D52}"/>
              </a:ext>
            </a:extLst>
          </p:cNvPr>
          <p:cNvSpPr>
            <a:spLocks noGrp="1"/>
          </p:cNvSpPr>
          <p:nvPr>
            <p:ph sz="half" idx="22" hasCustomPrompt="1"/>
            <p:custDataLst>
              <p:tags r:id="rId6"/>
            </p:custDataLst>
          </p:nvPr>
        </p:nvSpPr>
        <p:spPr>
          <a:xfrm>
            <a:off x="6424937" y="3047786"/>
            <a:ext cx="4459997" cy="267673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7" name="Textplatzhalter 6">
            <a:extLst>
              <a:ext uri="{FF2B5EF4-FFF2-40B4-BE49-F238E27FC236}">
                <a16:creationId xmlns:a16="http://schemas.microsoft.com/office/drawing/2014/main" id="{049E4546-1F5E-4098-86E2-2AC2D673901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7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027492-3CB4-4D02-9A01-189D751466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D27729-9276-4DB3-AF92-EA11DF36B7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1299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fik 45" descr="Logo der Technischen Universität Wien">
            <a:extLst>
              <a:ext uri="{FF2B5EF4-FFF2-40B4-BE49-F238E27FC236}">
                <a16:creationId xmlns:a16="http://schemas.microsoft.com/office/drawing/2014/main" id="{04A85C70-7CAB-4F95-9075-BECE02272E9D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1F24D4FE-3C5E-4183-ACAE-90DCD19448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70" y="1549399"/>
            <a:ext cx="957841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7364" y="2628900"/>
            <a:ext cx="2880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6BCE82C1-419A-452A-A896-A11CD5E44833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1308099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4656023" y="2628900"/>
            <a:ext cx="2880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0" name="Textplatzhalter 6">
            <a:extLst>
              <a:ext uri="{FF2B5EF4-FFF2-40B4-BE49-F238E27FC236}">
                <a16:creationId xmlns:a16="http://schemas.microsoft.com/office/drawing/2014/main" id="{60062EA2-CEBE-4CD2-886F-E7499AFB783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4656023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4" name="Inhaltsplatzhalter 3">
            <a:extLst>
              <a:ext uri="{FF2B5EF4-FFF2-40B4-BE49-F238E27FC236}">
                <a16:creationId xmlns:a16="http://schemas.microsoft.com/office/drawing/2014/main" id="{835A0ABB-9EF3-4E9D-B6E8-3A64CA54EFA3}"/>
              </a:ext>
            </a:extLst>
          </p:cNvPr>
          <p:cNvSpPr>
            <a:spLocks noGrp="1"/>
          </p:cNvSpPr>
          <p:nvPr>
            <p:ph sz="half" idx="17" hasCustomPrompt="1"/>
            <p:custDataLst>
              <p:tags r:id="rId7"/>
            </p:custDataLst>
          </p:nvPr>
        </p:nvSpPr>
        <p:spPr>
          <a:xfrm>
            <a:off x="8004683" y="2628900"/>
            <a:ext cx="2880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1" name="Textplatzhalter 6">
            <a:extLst>
              <a:ext uri="{FF2B5EF4-FFF2-40B4-BE49-F238E27FC236}">
                <a16:creationId xmlns:a16="http://schemas.microsoft.com/office/drawing/2014/main" id="{8A0E8162-B812-4DFA-A815-61AA72E5C157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8"/>
            </p:custDataLst>
          </p:nvPr>
        </p:nvSpPr>
        <p:spPr>
          <a:xfrm>
            <a:off x="8003901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027492-3CB4-4D02-9A01-189D751466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D27729-9276-4DB3-AF92-EA11DF36B7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8903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mit 2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fik 45" descr="Logo der Technischen Universität Wien">
            <a:extLst>
              <a:ext uri="{FF2B5EF4-FFF2-40B4-BE49-F238E27FC236}">
                <a16:creationId xmlns:a16="http://schemas.microsoft.com/office/drawing/2014/main" id="{099E51E9-DC66-419A-A177-526841A9308B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B3A894-6582-4131-8E80-1DD0D8D21934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2"/>
            </p:custDataLst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  <p:sp>
        <p:nvSpPr>
          <p:cNvPr id="44" name="Titel 43">
            <a:extLst>
              <a:ext uri="{FF2B5EF4-FFF2-40B4-BE49-F238E27FC236}">
                <a16:creationId xmlns:a16="http://schemas.microsoft.com/office/drawing/2014/main" id="{F963C0A1-5171-448F-A988-DE64FAB96000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4"/>
            </p:custDataLst>
          </p:nvPr>
        </p:nvSpPr>
        <p:spPr>
          <a:xfrm>
            <a:off x="1308100" y="2628900"/>
            <a:ext cx="4464051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5" name="Textplatzhalter 6">
            <a:extLst>
              <a:ext uri="{FF2B5EF4-FFF2-40B4-BE49-F238E27FC236}">
                <a16:creationId xmlns:a16="http://schemas.microsoft.com/office/drawing/2014/main" id="{F036BFB8-13F4-45C1-A152-0C4BA80C11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0A6531-1A5C-4E36-808F-D401F287FCB8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6"/>
            </p:custDataLst>
          </p:nvPr>
        </p:nvSpPr>
        <p:spPr bwMode="gray">
          <a:xfrm>
            <a:off x="6419849" y="1549401"/>
            <a:ext cx="4464000" cy="828674"/>
          </a:xfrm>
        </p:spPr>
        <p:txBody>
          <a:bodyPr anchor="b"/>
          <a:lstStyle>
            <a:lvl1pPr marL="0" indent="0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AT" dirty="0"/>
              <a:t>Titel kurz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419849" y="2628900"/>
            <a:ext cx="4464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8" name="Textplatzhalter 6">
            <a:extLst>
              <a:ext uri="{FF2B5EF4-FFF2-40B4-BE49-F238E27FC236}">
                <a16:creationId xmlns:a16="http://schemas.microsoft.com/office/drawing/2014/main" id="{EDFB22B7-5CFA-40C9-876A-2EEB5D5B932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8"/>
            </p:custDataLst>
          </p:nvPr>
        </p:nvSpPr>
        <p:spPr>
          <a:xfrm>
            <a:off x="6419327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1645802-C8CA-46DF-993F-A4B3CBA5C1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3990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fik 43" descr="Logo der Technischen Universität Wien">
            <a:extLst>
              <a:ext uri="{FF2B5EF4-FFF2-40B4-BE49-F238E27FC236}">
                <a16:creationId xmlns:a16="http://schemas.microsoft.com/office/drawing/2014/main" id="{6F6E8048-A8A6-40D6-9F76-8C1F76FD6D30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3818965-B1EA-4BB7-B603-FBD6BFB823F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2628900"/>
            <a:ext cx="4464050" cy="32750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466724"/>
            <a:ext cx="5292725" cy="52578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D7E7DD6B-7A49-46D6-9B77-F3D80A663AC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98FEE5-0E49-40F0-A7F3-0900FB3D07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3C87CB-D750-4CCA-B59C-9E8CA49429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22140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fik 45" descr="Logo der Technischen Universität Wien">
            <a:extLst>
              <a:ext uri="{FF2B5EF4-FFF2-40B4-BE49-F238E27FC236}">
                <a16:creationId xmlns:a16="http://schemas.microsoft.com/office/drawing/2014/main" id="{8255916F-C74A-4F99-B096-58397C68C15E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23A681F0-FCE5-4B65-9CC1-B94D7109D7C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2628900"/>
            <a:ext cx="4464050" cy="2455862"/>
          </a:xfrm>
        </p:spPr>
        <p:txBody>
          <a:bodyPr/>
          <a:lstStyle>
            <a:lvl1pPr>
              <a:buClr>
                <a:schemeClr val="accent1"/>
              </a:buClr>
              <a:defRPr lang="de-AT" dirty="0"/>
            </a:lvl1pPr>
            <a:lvl2pPr>
              <a:buClr>
                <a:schemeClr val="accent1"/>
              </a:buClr>
              <a:defRPr lang="de-AT" dirty="0"/>
            </a:lvl2pPr>
            <a:lvl3pPr>
              <a:buClr>
                <a:schemeClr val="accent1"/>
              </a:buClr>
              <a:defRPr lang="de-AT" dirty="0"/>
            </a:lvl3pPr>
            <a:lvl4pPr>
              <a:buClr>
                <a:schemeClr val="accent1"/>
              </a:buClr>
              <a:defRPr lang="de-AT" dirty="0"/>
            </a:lvl4pPr>
            <a:lvl5pPr>
              <a:buClr>
                <a:schemeClr val="accent1"/>
              </a:buClr>
              <a:defRPr lang="de-AT" dirty="0"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1549400"/>
            <a:ext cx="5292725" cy="35274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3C366575-A0E1-435D-B2F7-A633BB9BA970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139015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AF7C3B0-C23A-4FDF-A6AF-F0A70F5867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F37747-6725-4A2E-9A78-7D0CB46DB2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30138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 descr="Logo der Technischen Universität Wien">
            <a:extLst>
              <a:ext uri="{FF2B5EF4-FFF2-40B4-BE49-F238E27FC236}">
                <a16:creationId xmlns:a16="http://schemas.microsoft.com/office/drawing/2014/main" id="{01CD9B7C-68E1-417F-A205-77F00F0A1E1F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257E20E4-5915-449A-9EAF-02177CB5A4F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16875FCD-3D13-4E90-B3E6-1E014D587D9B}"/>
              </a:ext>
            </a:extLst>
          </p:cNvPr>
          <p:cNvSpPr>
            <a:spLocks noGrp="1"/>
          </p:cNvSpPr>
          <p:nvPr>
            <p:ph type="tbl" sz="quarter" idx="11"/>
            <p:custDataLst>
              <p:tags r:id="rId3"/>
            </p:custDataLst>
          </p:nvPr>
        </p:nvSpPr>
        <p:spPr>
          <a:xfrm>
            <a:off x="1307069" y="2628900"/>
            <a:ext cx="10405506" cy="31035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AT" dirty="0"/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477C37F3-41FF-4F9C-879D-61D49123C46A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1308099" y="5795962"/>
            <a:ext cx="1040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144BF2-C4EA-4914-B417-C39C639448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67494-E528-4F3B-BF5C-BED8288A09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27438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44" descr="Logo der Technischen Universität Wien">
            <a:extLst>
              <a:ext uri="{FF2B5EF4-FFF2-40B4-BE49-F238E27FC236}">
                <a16:creationId xmlns:a16="http://schemas.microsoft.com/office/drawing/2014/main" id="{A3C39FBE-5949-4D36-BF84-EE4617A28BE0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C00A8C0-0C94-4283-B6B6-E3602A0E62F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2628900"/>
            <a:ext cx="4464050" cy="32750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32E0DB4B-5F1B-42DD-83CB-F2653DB6A8BB}"/>
              </a:ext>
            </a:extLst>
          </p:cNvPr>
          <p:cNvSpPr>
            <a:spLocks noGrp="1"/>
          </p:cNvSpPr>
          <p:nvPr>
            <p:ph type="chart" sz="quarter" idx="14"/>
            <p:custDataLst>
              <p:tags r:id="rId4"/>
            </p:custDataLst>
          </p:nvPr>
        </p:nvSpPr>
        <p:spPr>
          <a:xfrm>
            <a:off x="6419850" y="1209674"/>
            <a:ext cx="5292725" cy="45148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Diagramm durch Klicken auf Symbol hinzufügen</a:t>
            </a:r>
            <a:endParaRPr lang="de-AT" dirty="0"/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C2ADED94-8356-4555-85DB-EBCA122F7F78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F8834E-16B1-4EE9-8DF7-FA1E2F51D0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76AD5D1-50CA-4899-9199-1E0698A407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19919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DE750BCC-5617-4E30-A125-B426A971026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1" y="195048"/>
            <a:ext cx="10469880" cy="507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Medienplatzhalter 7">
            <a:extLst>
              <a:ext uri="{FF2B5EF4-FFF2-40B4-BE49-F238E27FC236}">
                <a16:creationId xmlns:a16="http://schemas.microsoft.com/office/drawing/2014/main" id="{9DB15156-AFEA-490A-9AB3-282980DCE6BB}"/>
              </a:ext>
            </a:extLst>
          </p:cNvPr>
          <p:cNvSpPr>
            <a:spLocks noGrp="1"/>
          </p:cNvSpPr>
          <p:nvPr>
            <p:ph type="media" sz="quarter" idx="11"/>
            <p:custDataLst>
              <p:tags r:id="rId2"/>
            </p:custDataLst>
          </p:nvPr>
        </p:nvSpPr>
        <p:spPr>
          <a:xfrm>
            <a:off x="838200" y="860793"/>
            <a:ext cx="10454640" cy="517985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023AC317-B486-4CC7-B5B5-23C174489D1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6422935" y="6082240"/>
            <a:ext cx="4869905" cy="100013"/>
          </a:xfrm>
        </p:spPr>
        <p:txBody>
          <a:bodyPr anchor="b"/>
          <a:lstStyle>
            <a:lvl1pPr marL="0" indent="0">
              <a:buNone/>
              <a:defRPr sz="8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3120CD-C498-4220-A8B4-BE4E0E0763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E1F152-AD0F-4B68-9E69-AE6948F47C7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30932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etc.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DE750BCC-5617-4E30-A125-B426A971026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08100" y="1209676"/>
            <a:ext cx="9577388" cy="3099778"/>
          </a:xfr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E97C2-5489-4CD9-873E-EF97AACF8A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2525" y="4503737"/>
            <a:ext cx="4652963" cy="573088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algn="r">
              <a:defRPr sz="1600">
                <a:solidFill>
                  <a:schemeClr val="bg1"/>
                </a:solidFill>
              </a:defRPr>
            </a:lvl2pPr>
            <a:lvl3pPr algn="r">
              <a:defRPr sz="1400">
                <a:solidFill>
                  <a:schemeClr val="bg1"/>
                </a:solidFill>
              </a:defRPr>
            </a:lvl3pPr>
            <a:lvl4pPr algn="r">
              <a:defRPr sz="1400">
                <a:solidFill>
                  <a:schemeClr val="bg1"/>
                </a:solidFill>
              </a:defRPr>
            </a:lvl4pPr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3120CD-C498-4220-A8B4-BE4E0E0763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E1F152-AD0F-4B68-9E69-AE6948F47C7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5621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88835D5-7CB1-4717-895C-F6ACBDD1151E}"/>
              </a:ext>
            </a:extLst>
          </p:cNvPr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>
          <a:xfrm>
            <a:off x="0" y="0"/>
            <a:ext cx="12192000" cy="6063380"/>
          </a:xfr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DE750BCC-5617-4E30-A125-B426A971026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22961" y="195048"/>
            <a:ext cx="10469880" cy="507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42">
            <a:extLst>
              <a:ext uri="{FF2B5EF4-FFF2-40B4-BE49-F238E27FC236}">
                <a16:creationId xmlns:a16="http://schemas.microsoft.com/office/drawing/2014/main" id="{B15E41F2-9F0D-4C90-B6D3-88903F9FBD2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247493" y="6050376"/>
            <a:ext cx="4465082" cy="171450"/>
          </a:xfrm>
        </p:spPr>
        <p:txBody>
          <a:bodyPr anchor="b"/>
          <a:lstStyle>
            <a:lvl1pPr algn="r">
              <a:buNone/>
              <a:defRPr sz="800" cap="all" baseline="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algn="r">
              <a:buNone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3120CD-C498-4220-A8B4-BE4E0E0763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E1F152-AD0F-4B68-9E69-AE6948F47C76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4"/>
            </p:custDataLst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12252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Sub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Inhaltsplatzhalter 50">
            <a:extLst>
              <a:ext uri="{FF2B5EF4-FFF2-40B4-BE49-F238E27FC236}">
                <a16:creationId xmlns:a16="http://schemas.microsoft.com/office/drawing/2014/main" id="{FA616A29-9F54-4E04-A2B1-9CBD31AC3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  <p:custDataLst>
              <p:tags r:id="rId1"/>
            </p:custDataLst>
          </p:nvPr>
        </p:nvSpPr>
        <p:spPr>
          <a:xfrm>
            <a:off x="464055" y="468437"/>
            <a:ext cx="2424112" cy="738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/>
              <a:t>Sublogo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26F95A-C572-4753-9A21-DBF6531D5F3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308100" y="2276475"/>
            <a:ext cx="9288464" cy="1524000"/>
          </a:xfrm>
        </p:spPr>
        <p:txBody>
          <a:bodyPr lIns="0" tIns="0" rIns="0" bIns="0" anchor="b">
            <a:noAutofit/>
          </a:bodyPr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DE19F1-4351-4A07-8662-A968E8A450FD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308100" y="3971926"/>
            <a:ext cx="9288464" cy="11049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de-AT" dirty="0"/>
              <a:t>Untertitel (Datum, Ort, Name, ...)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11F96F86-EC1A-4E1A-B16C-1B22A6CC3DC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603973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und Sub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C768571-8F27-4801-BE51-98B18A003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1502"/>
          <a:stretch/>
        </p:blipFill>
        <p:spPr>
          <a:xfrm>
            <a:off x="0" y="3312"/>
            <a:ext cx="12192000" cy="6063380"/>
          </a:xfrm>
          <a:prstGeom prst="rect">
            <a:avLst/>
          </a:prstGeom>
        </p:spPr>
      </p:pic>
      <p:sp>
        <p:nvSpPr>
          <p:cNvPr id="10" name="Inhaltsplatzhalter 50">
            <a:extLst>
              <a:ext uri="{FF2B5EF4-FFF2-40B4-BE49-F238E27FC236}">
                <a16:creationId xmlns:a16="http://schemas.microsoft.com/office/drawing/2014/main" id="{36BC36E0-5BB3-4FF7-91BE-F08527FA0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  <p:custDataLst>
              <p:tags r:id="rId2"/>
            </p:custDataLst>
          </p:nvPr>
        </p:nvSpPr>
        <p:spPr bwMode="gray">
          <a:xfrm>
            <a:off x="464055" y="468437"/>
            <a:ext cx="2424112" cy="738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/>
              <a:t>Sublogo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18F59B5-2786-498C-82D3-0A9C1CD89FA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1963" y="4301639"/>
            <a:ext cx="10134599" cy="11768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336A329-ED2F-4460-87B8-2E6D5936410D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461963" y="5550408"/>
            <a:ext cx="10134600" cy="3455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bg1"/>
                </a:solidFill>
              </a:defRPr>
            </a:lvl2pPr>
            <a:lvl3pPr marL="269875" indent="0">
              <a:buNone/>
              <a:defRPr sz="2400">
                <a:solidFill>
                  <a:schemeClr val="bg1"/>
                </a:solidFill>
              </a:defRPr>
            </a:lvl3pPr>
            <a:lvl4pPr marL="538162" indent="0">
              <a:buNone/>
              <a:defRPr sz="2400">
                <a:solidFill>
                  <a:schemeClr val="bg1"/>
                </a:solidFill>
              </a:defRPr>
            </a:lvl4pPr>
            <a:lvl5pPr marL="903288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de-AT" dirty="0"/>
              <a:t>Untertitel (Datum, Ort, Name, …)</a:t>
            </a:r>
          </a:p>
        </p:txBody>
      </p:sp>
      <p:sp>
        <p:nvSpPr>
          <p:cNvPr id="6" name="Textplatzhalter 42">
            <a:extLst>
              <a:ext uri="{FF2B5EF4-FFF2-40B4-BE49-F238E27FC236}">
                <a16:creationId xmlns:a16="http://schemas.microsoft.com/office/drawing/2014/main" id="{A5A954F1-45CA-4DB2-A03D-24CC2A50588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7247493" y="6050376"/>
            <a:ext cx="4465082" cy="171450"/>
          </a:xfrm>
        </p:spPr>
        <p:txBody>
          <a:bodyPr anchor="b"/>
          <a:lstStyle>
            <a:lvl1pPr algn="r">
              <a:buNone/>
              <a:defRPr sz="800" cap="all" baseline="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algn="r">
              <a:buNone/>
            </a:pPr>
            <a:r>
              <a:rPr lang="de-AT" dirty="0"/>
              <a:t>© Copyright-Info, Quelle, …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C4669611-45BF-4E01-AE99-8C851B6E8EC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3400401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Abschnittsüb. mit Sub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50">
            <a:extLst>
              <a:ext uri="{FF2B5EF4-FFF2-40B4-BE49-F238E27FC236}">
                <a16:creationId xmlns:a16="http://schemas.microsoft.com/office/drawing/2014/main" id="{9543D4FD-C269-424C-BFF1-0CC337668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  <p:custDataLst>
              <p:tags r:id="rId1"/>
            </p:custDataLst>
          </p:nvPr>
        </p:nvSpPr>
        <p:spPr>
          <a:xfrm>
            <a:off x="464055" y="468437"/>
            <a:ext cx="2424112" cy="738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/>
              <a:t>Sublogo</a:t>
            </a:r>
          </a:p>
        </p:txBody>
      </p:sp>
      <p:sp>
        <p:nvSpPr>
          <p:cNvPr id="45" name="Titel 44">
            <a:extLst>
              <a:ext uri="{FF2B5EF4-FFF2-40B4-BE49-F238E27FC236}">
                <a16:creationId xmlns:a16="http://schemas.microsoft.com/office/drawing/2014/main" id="{3516091C-A315-4CB3-88CE-6B9EB554E55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9" y="1549399"/>
            <a:ext cx="9288463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3E7E8-1933-4C21-BF6B-D51AF4E4672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308100" y="2628900"/>
            <a:ext cx="92884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A8FA552-E20A-45D6-9466-06CF509E5F5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824437-7701-4594-9DE8-06D5133A3A9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9159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CC3861D-6A0E-4D97-BCA6-9F478718F38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26FE97BF-50D8-4DF7-BDB0-2CE0DB6CB7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468438"/>
            <a:ext cx="9289498" cy="828675"/>
          </a:xfrm>
        </p:spPr>
        <p:txBody>
          <a:bodyPr anchor="t"/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1549400"/>
            <a:ext cx="9288463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DCF8E267-CD9A-43BB-A12F-82C2525191D3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647B48-DCA4-45E1-9B45-2653E61736C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E5224C-410D-4B9F-BF59-7C006D98BA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38132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Fließtext 2-spa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31A36E86-3263-4D48-BFCA-E26CD9DAB5A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1800308-609F-43F8-A26B-1C8A6934DB3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468438"/>
            <a:ext cx="928949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1549400"/>
            <a:ext cx="9288463" cy="4175125"/>
          </a:xfrm>
        </p:spPr>
        <p:txBody>
          <a:bodyPr numCol="2" spcCol="54000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A40535DB-D4B5-42FC-8954-8DE1710FC3AB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2D9E9D-7157-4CE0-BAAB-69ABA24A65C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198BD7-791A-4FCA-B55B-36A5C4823C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08214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ED6CEAC0-C944-4C35-85FE-DD880493D9E4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637127-39B7-41CD-ADEB-36B572791C6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F29669C5-6473-4DB6-A3D0-5DBCA391D293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1308101" y="1549400"/>
            <a:ext cx="4464050" cy="4175125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accent1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CA906227-8E2A-4CC2-9512-40B18BC7BB01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3467B23B-DD93-4CED-BBFA-9278E3AD673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419849" y="1549400"/>
            <a:ext cx="4464000" cy="4175125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accent1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183A7FE6-F5FB-4D55-918B-53D8A0E35A7D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CC6A98-6ABC-499D-9FF6-E10D60E3C10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5B48A5-FBFD-449D-B880-FBE3EBB24ED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077047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45653598-50F2-40CF-AC84-D7A01191F27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637127-39B7-41CD-ADEB-36B572791C6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8100" y="1549400"/>
            <a:ext cx="4464051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03719867-2AF1-4E31-B21C-CB92983E16A5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6419850" y="1549400"/>
            <a:ext cx="4465638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209EDC04-5C25-482D-BDF6-9F99E0B14BD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A49CA1-FA2C-4221-B4C1-B59C1E0F7B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4A1E6C-0A49-4AE4-B97A-06341D1432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312525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2 Inhalte mit 2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0F39A128-B7D5-4E74-A458-2046F7EE6F8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2B4ADB-90A0-4C80-9CEF-4EA65EC7BC0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4458966" cy="828675"/>
          </a:xfrm>
        </p:spPr>
        <p:txBody>
          <a:bodyPr anchor="t"/>
          <a:lstStyle>
            <a:lvl1pPr>
              <a:defRPr sz="2800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8100" y="1549400"/>
            <a:ext cx="4464051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A3FB2859-A54E-4049-8E23-3E9B56B21315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0A6531-1A5C-4E36-808F-D401F287FCB8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6419848" y="468438"/>
            <a:ext cx="4465639" cy="828674"/>
          </a:xfrm>
        </p:spPr>
        <p:txBody>
          <a:bodyPr anchor="t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AT"/>
              <a:t>Titel kurz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419848" y="1549400"/>
            <a:ext cx="4465639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29987B4A-92C0-46CA-8956-DD82D63D82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7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8DF6979-56D6-4B18-BAB7-8591907307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CF1862D-E8F4-4C35-877A-4230D6BD96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08276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2 Inhalte mit Titel und 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BCD57A74-8557-43E6-AA11-A9EA05D72C3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2B4ADB-90A0-4C80-9CEF-4EA65EC7BC0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C7294D-AB76-4F34-AE16-B8A53315B53B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>
          <a:xfrm>
            <a:off x="1306513" y="1547243"/>
            <a:ext cx="9578975" cy="338138"/>
          </a:xfrm>
        </p:spPr>
        <p:txBody>
          <a:bodyPr vert="horz" lIns="0" tIns="0" rIns="0" bIns="0" rtlCol="0">
            <a:noAutofit/>
          </a:bodyPr>
          <a:lstStyle>
            <a:lvl1pPr>
              <a:defRPr lang="de-DE" b="1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F57B5E7-3EEC-4208-A7DF-F23A38D8C492}"/>
              </a:ext>
            </a:extLst>
          </p:cNvPr>
          <p:cNvSpPr>
            <a:spLocks noGrp="1"/>
          </p:cNvSpPr>
          <p:nvPr>
            <p:ph sz="half" idx="18" hasCustomPrompt="1"/>
            <p:custDataLst>
              <p:tags r:id="rId4"/>
            </p:custDataLst>
          </p:nvPr>
        </p:nvSpPr>
        <p:spPr>
          <a:xfrm>
            <a:off x="1308100" y="1956817"/>
            <a:ext cx="4464051" cy="376770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A54B1CBB-2721-4614-885C-583E3BDC6D5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C28CA6E3-ADBB-46D6-A1FC-9C929E9483AA}"/>
              </a:ext>
            </a:extLst>
          </p:cNvPr>
          <p:cNvSpPr>
            <a:spLocks noGrp="1"/>
          </p:cNvSpPr>
          <p:nvPr>
            <p:ph sz="half" idx="19" hasCustomPrompt="1"/>
            <p:custDataLst>
              <p:tags r:id="rId6"/>
            </p:custDataLst>
          </p:nvPr>
        </p:nvSpPr>
        <p:spPr>
          <a:xfrm>
            <a:off x="6419848" y="1956817"/>
            <a:ext cx="4465639" cy="376770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5F649EA5-E092-4F48-89BC-59787C8A4B0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7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8DF6979-56D6-4B18-BAB7-8591907307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CF1862D-E8F4-4C35-877A-4230D6BD96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149837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1A0C5AC3-D69A-452C-8ADE-D933E076B90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637127-39B7-41CD-ADEB-36B572791C6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5B81E50-C817-4FBC-803F-285AF00E8A2C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7364" y="1549400"/>
            <a:ext cx="2880000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6DACEAC-FE72-4485-BA61-32B70B55C30B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1308099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4269F25B-1382-4303-B158-37D6475FFA54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4656024" y="1549400"/>
            <a:ext cx="2880000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69E1E176-0BF8-48FB-9C78-4D3C31917A0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4656023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F17CFAD3-D27F-4386-BB6A-DA7CD5FCD531}"/>
              </a:ext>
            </a:extLst>
          </p:cNvPr>
          <p:cNvSpPr>
            <a:spLocks noGrp="1"/>
          </p:cNvSpPr>
          <p:nvPr>
            <p:ph sz="half" idx="17" hasCustomPrompt="1"/>
            <p:custDataLst>
              <p:tags r:id="rId7"/>
            </p:custDataLst>
          </p:nvPr>
        </p:nvSpPr>
        <p:spPr>
          <a:xfrm>
            <a:off x="8004683" y="1549400"/>
            <a:ext cx="2880000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ECD8C927-8B97-4C3A-A82C-BD0BF859A357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8"/>
            </p:custDataLst>
          </p:nvPr>
        </p:nvSpPr>
        <p:spPr>
          <a:xfrm>
            <a:off x="8003901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A49CA1-FA2C-4221-B4C1-B59C1E0F7B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4A1E6C-0A49-4AE4-B97A-06341D1432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18406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ext und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C80B18DB-87A6-4902-B08F-EEEF6A4C490F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B424605-8FAF-42C4-8B55-1E41E515CBD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4464050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1549400"/>
            <a:ext cx="4464050" cy="434657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466725"/>
            <a:ext cx="5292725" cy="5257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AAA324F2-230D-45D1-9B3D-460855588C8F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EB1758-E825-49FE-BFC8-D85EC09665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8B308E-9401-4426-8362-E403648191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25947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ext und Bild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B641D741-C485-431B-AB18-BF0A3F576B60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511301B-9B7A-4FC8-899A-DA9F10DE5C8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10404474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1549400"/>
            <a:ext cx="4464050" cy="434657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1549400"/>
            <a:ext cx="5292725" cy="35274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F5C7B036-BA63-4EF3-A22E-A1F0AF81DC5D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14191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68A473-3BB1-4067-8830-F9B01DC5086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E5E550-2AEE-40CC-B9A5-572A524B8A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703789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3A680E4C-E350-49CA-B362-D5E27C2C7084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684F57D3-A4C9-4846-A645-1B4E4C67FEE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10404475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16875FCD-3D13-4E90-B3E6-1E014D587D9B}"/>
              </a:ext>
            </a:extLst>
          </p:cNvPr>
          <p:cNvSpPr>
            <a:spLocks noGrp="1"/>
          </p:cNvSpPr>
          <p:nvPr>
            <p:ph type="tbl" sz="quarter" idx="11"/>
            <p:custDataLst>
              <p:tags r:id="rId3"/>
            </p:custDataLst>
          </p:nvPr>
        </p:nvSpPr>
        <p:spPr>
          <a:xfrm>
            <a:off x="1308100" y="1549400"/>
            <a:ext cx="10404475" cy="4175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AT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17D854DD-9F1E-4B53-A47D-AD1BCFA810A8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100" y="5795962"/>
            <a:ext cx="10406836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46B341-2E3B-48DF-8934-61B25EEE75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F6012AB-A28A-4A12-888B-75D0EE4CAC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314459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ext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3D72A57A-0B88-47A5-963A-6E6CF2A2A79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69EF57-E6AB-4B93-AF12-7986543DEC8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423" y="468438"/>
            <a:ext cx="4458966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1549400"/>
            <a:ext cx="4464050" cy="434657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32E0DB4B-5F1B-42DD-83CB-F2653DB6A8BB}"/>
              </a:ext>
            </a:extLst>
          </p:cNvPr>
          <p:cNvSpPr>
            <a:spLocks noGrp="1"/>
          </p:cNvSpPr>
          <p:nvPr>
            <p:ph type="chart" sz="quarter" idx="14"/>
            <p:custDataLst>
              <p:tags r:id="rId4"/>
            </p:custDataLst>
          </p:nvPr>
        </p:nvSpPr>
        <p:spPr>
          <a:xfrm>
            <a:off x="6419850" y="468438"/>
            <a:ext cx="5292725" cy="52560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Diagramm durch Klicken auf Symbol hinzufügen</a:t>
            </a:r>
            <a:endParaRPr lang="de-AT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88F954D-4AA6-43D6-B116-7A4DEFDE530D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A1A9BF-3AED-4EFD-900F-A1F61F946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9AEF1F5-9CB9-45A4-A9BB-5CC1F835C7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6032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Logo der Technischen Universität Wien">
            <a:extLst>
              <a:ext uri="{FF2B5EF4-FFF2-40B4-BE49-F238E27FC236}">
                <a16:creationId xmlns:a16="http://schemas.microsoft.com/office/drawing/2014/main" id="{83392F52-F053-4B37-81F1-B63D0DE99D51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A12C0C97-07D5-4F96-8247-518187567D1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307069" y="1549399"/>
            <a:ext cx="9289494" cy="828675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Kontaktinformationen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3E7E8-1933-4C21-BF6B-D51AF4E4672E}"/>
              </a:ext>
            </a:extLst>
          </p:cNvPr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307070" y="3429000"/>
            <a:ext cx="9289494" cy="2455545"/>
          </a:xfr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Kontaktdaten eingeben</a:t>
            </a:r>
            <a:endParaRPr lang="de-AT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CE00CB-9CCC-4A9D-A758-DD7AA927D5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50ABF1-0BD3-4A46-9EEF-0778B9A7DE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743543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99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EEE1EB9-F30E-41CC-A5EA-1BB4036EAE50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 bwMode="gray">
          <a:xfrm>
            <a:off x="1307069" y="1549399"/>
            <a:ext cx="10405506" cy="82867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AT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201E79-C3C6-4E96-894F-E05A4B90D1FF}"/>
              </a:ext>
            </a:extLst>
          </p:cNvPr>
          <p:cNvSpPr>
            <a:spLocks noGrp="1"/>
          </p:cNvSpPr>
          <p:nvPr userDrawn="1">
            <p:ph type="body" idx="1"/>
            <p:custDataLst>
              <p:tags r:id="rId36"/>
            </p:custDataLst>
          </p:nvPr>
        </p:nvSpPr>
        <p:spPr bwMode="gray">
          <a:xfrm>
            <a:off x="1308100" y="2628901"/>
            <a:ext cx="10404474" cy="3086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AT" dirty="0"/>
              <a:t>Mastertextformat bearbeiten 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B4FDE39-4A0A-4D44-BA64-FAA4243A1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de-AT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777435-05C2-4B0D-8378-14DDFE4EB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8"/>
            </p:custDataLst>
          </p:nvPr>
        </p:nvSpPr>
        <p:spPr bwMode="white">
          <a:xfrm>
            <a:off x="461963" y="6385768"/>
            <a:ext cx="101346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de-AT"/>
              <a:t>Musterpräsentation | September 2021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7DA86F-8392-48F1-84B2-3D91C8489FAC}"/>
              </a:ext>
            </a:extLst>
          </p:cNvPr>
          <p:cNvSpPr>
            <a:spLocks noGrp="1"/>
          </p:cNvSpPr>
          <p:nvPr userDrawn="1">
            <p:ph type="sldNum" sz="quarter" idx="4"/>
            <p:custDataLst>
              <p:tags r:id="rId39"/>
            </p:custDataLst>
          </p:nvPr>
        </p:nvSpPr>
        <p:spPr bwMode="white">
          <a:xfrm>
            <a:off x="10885488" y="6385768"/>
            <a:ext cx="827086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8F7AD7-DC47-44A0-A9D7-F1C17BFD6F09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6278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7" r:id="rId4"/>
    <p:sldLayoutId id="2147483708" r:id="rId5"/>
    <p:sldLayoutId id="2147483651" r:id="rId6"/>
    <p:sldLayoutId id="2147483652" r:id="rId7"/>
    <p:sldLayoutId id="2147483752" r:id="rId8"/>
    <p:sldLayoutId id="2147483744" r:id="rId9"/>
    <p:sldLayoutId id="2147483666" r:id="rId10"/>
    <p:sldLayoutId id="2147483668" r:id="rId11"/>
    <p:sldLayoutId id="2147483669" r:id="rId12"/>
    <p:sldLayoutId id="2147483670" r:id="rId13"/>
    <p:sldLayoutId id="2147483671" r:id="rId14"/>
    <p:sldLayoutId id="2147483673" r:id="rId15"/>
    <p:sldLayoutId id="2147483745" r:id="rId16"/>
    <p:sldLayoutId id="2147483738" r:id="rId17"/>
    <p:sldLayoutId id="2147483735" r:id="rId18"/>
    <p:sldLayoutId id="2147483736" r:id="rId19"/>
    <p:sldLayoutId id="2147483737" r:id="rId20"/>
    <p:sldLayoutId id="2147483725" r:id="rId21"/>
    <p:sldLayoutId id="2147483726" r:id="rId22"/>
    <p:sldLayoutId id="2147483727" r:id="rId23"/>
    <p:sldLayoutId id="2147483729" r:id="rId24"/>
    <p:sldLayoutId id="2147483730" r:id="rId25"/>
    <p:sldLayoutId id="2147483751" r:id="rId26"/>
    <p:sldLayoutId id="2147483746" r:id="rId27"/>
    <p:sldLayoutId id="2147483731" r:id="rId28"/>
    <p:sldLayoutId id="2147483732" r:id="rId29"/>
    <p:sldLayoutId id="2147483733" r:id="rId30"/>
    <p:sldLayoutId id="2147483734" r:id="rId31"/>
    <p:sldLayoutId id="2147483707" r:id="rId32"/>
    <p:sldLayoutId id="2147483655" r:id="rId3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2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71463" algn="l" defTabSz="914400" rtl="0" eaLnBrk="1" latinLnBrk="0" hangingPunct="1">
        <a:lnSpc>
          <a:spcPct val="90000"/>
        </a:lnSpc>
        <a:spcBef>
          <a:spcPts val="4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04863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7913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49375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378" userDrawn="1">
          <p15:clr>
            <a:srgbClr val="F26B43"/>
          </p15:clr>
        </p15:guide>
        <p15:guide id="5" pos="291" userDrawn="1">
          <p15:clr>
            <a:srgbClr val="F26B43"/>
          </p15:clr>
        </p15:guide>
        <p15:guide id="6" orient="horz" pos="976" userDrawn="1">
          <p15:clr>
            <a:srgbClr val="F26B43"/>
          </p15:clr>
        </p15:guide>
        <p15:guide id="7" orient="horz" pos="3198" userDrawn="1">
          <p15:clr>
            <a:srgbClr val="F26B43"/>
          </p15:clr>
        </p15:guide>
        <p15:guide id="8" orient="horz" pos="3451" userDrawn="1">
          <p15:clr>
            <a:srgbClr val="F26B43"/>
          </p15:clr>
        </p15:guide>
        <p15:guide id="9" orient="horz" pos="3714" userDrawn="1">
          <p15:clr>
            <a:srgbClr val="F26B43"/>
          </p15:clr>
        </p15:guide>
        <p15:guide id="10" pos="4044" userDrawn="1">
          <p15:clr>
            <a:srgbClr val="F26B43"/>
          </p15:clr>
        </p15:guide>
        <p15:guide id="11" pos="3636" userDrawn="1">
          <p15:clr>
            <a:srgbClr val="F26B43"/>
          </p15:clr>
        </p15:guide>
        <p15:guide id="12" orient="horz" pos="1114" userDrawn="1">
          <p15:clr>
            <a:srgbClr val="F26B43"/>
          </p15:clr>
        </p15:guide>
        <p15:guide id="13" orient="horz" pos="1498" userDrawn="1">
          <p15:clr>
            <a:srgbClr val="F26B43"/>
          </p15:clr>
        </p15:guide>
        <p15:guide id="14" orient="horz" pos="294" userDrawn="1">
          <p15:clr>
            <a:srgbClr val="F26B43"/>
          </p15:clr>
        </p15:guide>
        <p15:guide id="15" orient="horz" pos="531" userDrawn="1">
          <p15:clr>
            <a:srgbClr val="F26B43"/>
          </p15:clr>
        </p15:guide>
        <p15:guide id="16" orient="horz" pos="762" userDrawn="1">
          <p15:clr>
            <a:srgbClr val="F26B43"/>
          </p15:clr>
        </p15:guide>
        <p15:guide id="17" orient="horz" pos="1651" userDrawn="1">
          <p15:clr>
            <a:srgbClr val="F26B43"/>
          </p15:clr>
        </p15:guide>
        <p15:guide id="18" pos="824" userDrawn="1">
          <p15:clr>
            <a:srgbClr val="F26B43"/>
          </p15:clr>
        </p15:guide>
        <p15:guide id="19" pos="6675" userDrawn="1">
          <p15:clr>
            <a:srgbClr val="F26B43"/>
          </p15:clr>
        </p15:guide>
        <p15:guide id="20" orient="horz" pos="3606" userDrawn="1">
          <p15:clr>
            <a:srgbClr val="F26B43"/>
          </p15:clr>
        </p15:guide>
        <p15:guide id="21" pos="68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9.jp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90.xml"/><Relationship Id="rId7" Type="http://schemas.openxmlformats.org/officeDocument/2006/relationships/image" Target="../media/image10.png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890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96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A85F2F-BC66-4BFE-9993-10CD568B5EBD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308100" y="2276475"/>
            <a:ext cx="9577388" cy="1524000"/>
          </a:xfrm>
        </p:spPr>
        <p:txBody>
          <a:bodyPr/>
          <a:lstStyle/>
          <a:p>
            <a:br>
              <a:rPr lang="en-GB" noProof="1"/>
            </a:br>
            <a:r>
              <a:rPr lang="en-GB" noProof="1"/>
              <a:t>Multi-orbital </a:t>
            </a:r>
            <a:br>
              <a:rPr lang="en-GB" noProof="1"/>
            </a:br>
            <a:r>
              <a:rPr lang="en-GB" noProof="1"/>
              <a:t>dynamical vertex approximation (D</a:t>
            </a:r>
            <a:r>
              <a:rPr lang="en-GB" sz="5800" noProof="1">
                <a:latin typeface="Algerian" panose="04020705040A02060702" pitchFamily="82" charset="0"/>
              </a:rPr>
              <a:t>Γ</a:t>
            </a:r>
            <a:r>
              <a:rPr lang="en-GB" noProof="1"/>
              <a:t>A)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518FF93-C368-496C-9C7E-B5FDFB4EDCD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08100" y="3971926"/>
            <a:ext cx="9577388" cy="579134"/>
          </a:xfrm>
        </p:spPr>
        <p:txBody>
          <a:bodyPr/>
          <a:lstStyle/>
          <a:p>
            <a:r>
              <a:rPr lang="en-GB" noProof="1"/>
              <a:t>Julian Peil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D05E95-34F2-9E35-6665-A0A43DCEDDA0}"/>
              </a:ext>
            </a:extLst>
          </p:cNvPr>
          <p:cNvSpPr txBox="1"/>
          <p:nvPr/>
        </p:nvSpPr>
        <p:spPr>
          <a:xfrm>
            <a:off x="1308100" y="5062242"/>
            <a:ext cx="8478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Supervision:</a:t>
            </a:r>
          </a:p>
          <a:p>
            <a:r>
              <a:rPr lang="en-GB" dirty="0"/>
              <a:t>Prof. Karsten Held</a:t>
            </a:r>
          </a:p>
          <a:p>
            <a:r>
              <a:rPr lang="en-GB" dirty="0"/>
              <a:t>Viktor Christiansson, PhD</a:t>
            </a:r>
          </a:p>
          <a:p>
            <a:r>
              <a:rPr lang="en-GB" dirty="0"/>
              <a:t>Eric Jacob, MSc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394CAE-FC0E-2CB9-92F3-329B6E1F2B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30" t="13225" r="29088" b="16959"/>
          <a:stretch>
            <a:fillRect/>
          </a:stretch>
        </p:blipFill>
        <p:spPr>
          <a:xfrm>
            <a:off x="8870950" y="317123"/>
            <a:ext cx="2981325" cy="289633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94135A6-9536-C02D-78DA-ACA70025DA22}"/>
              </a:ext>
            </a:extLst>
          </p:cNvPr>
          <p:cNvSpPr txBox="1"/>
          <p:nvPr/>
        </p:nvSpPr>
        <p:spPr>
          <a:xfrm>
            <a:off x="9117647" y="317123"/>
            <a:ext cx="53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noProof="1">
                <a:solidFill>
                  <a:schemeClr val="bg1"/>
                </a:solidFill>
                <a:latin typeface="Algerian" panose="04020705040A02060702" pitchFamily="82" charset="0"/>
              </a:rPr>
              <a:t>Γ</a:t>
            </a:r>
            <a:endParaRPr lang="en-GB" sz="54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56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7094-2AF3-6263-FA75-F5B4AF5E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ED9AA14-277D-AA65-1AC5-0680172B88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" t="24818" b="21972"/>
          <a:stretch>
            <a:fillRect/>
          </a:stretch>
        </p:blipFill>
        <p:spPr>
          <a:xfrm>
            <a:off x="5807945" y="0"/>
            <a:ext cx="6384055" cy="3505200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EA83C5DA-6F47-55CB-FE4F-8E1C9EE3073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07065" y="2025649"/>
            <a:ext cx="9289498" cy="828675"/>
          </a:xfrm>
        </p:spPr>
        <p:txBody>
          <a:bodyPr/>
          <a:lstStyle/>
          <a:p>
            <a:r>
              <a:rPr lang="en-GB" noProof="1"/>
              <a:t>Motivation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855F858B-B26B-6D15-7D2F-A869CC33A7F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308101" y="2628900"/>
            <a:ext cx="8794749" cy="3095625"/>
          </a:xfrm>
        </p:spPr>
        <p:txBody>
          <a:bodyPr/>
          <a:lstStyle/>
          <a:p>
            <a:pPr>
              <a:spcAft>
                <a:spcPts val="600"/>
              </a:spcAft>
            </a:pPr>
            <a:endParaRPr lang="en-GB" noProof="1"/>
          </a:p>
          <a:p>
            <a:pPr>
              <a:spcAft>
                <a:spcPts val="600"/>
              </a:spcAft>
            </a:pPr>
            <a:r>
              <a:rPr lang="en-GB" noProof="1"/>
              <a:t>Unconventional superconductivity                                                 (e.g. in cuprates or nickelates) requires special treatment          DMFT → D</a:t>
            </a:r>
            <a:r>
              <a:rPr lang="en-GB" sz="2400" noProof="1">
                <a:latin typeface="Algerian" panose="04020705040A02060702" pitchFamily="82" charset="0"/>
              </a:rPr>
              <a:t>Γ</a:t>
            </a:r>
            <a:r>
              <a:rPr lang="en-GB" noProof="1"/>
              <a:t>A [1]</a:t>
            </a:r>
          </a:p>
          <a:p>
            <a:pPr>
              <a:spcAft>
                <a:spcPts val="600"/>
              </a:spcAft>
            </a:pPr>
            <a:r>
              <a:rPr lang="en-GB" noProof="1"/>
              <a:t>DΓA &amp; superconductivity only implemented for one orbital [2, 3]</a:t>
            </a:r>
          </a:p>
          <a:p>
            <a:pPr>
              <a:spcAft>
                <a:spcPts val="600"/>
              </a:spcAft>
            </a:pPr>
            <a:r>
              <a:rPr lang="en-GB" noProof="1"/>
              <a:t>Many correlated materials (e.g. La₃Ni₂O₇) need a multi-orbital description [4]</a:t>
            </a:r>
          </a:p>
          <a:p>
            <a:r>
              <a:rPr lang="en-GB" noProof="1"/>
              <a:t>Calculations down to low temperatures → vertex asymptotics [5]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0019E6-CE55-FF6F-1814-DF3C572629CA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>
          <a:xfrm>
            <a:off x="10885488" y="6385768"/>
            <a:ext cx="827086" cy="288000"/>
          </a:xfrm>
        </p:spPr>
        <p:txBody>
          <a:bodyPr/>
          <a:lstStyle/>
          <a:p>
            <a:fld id="{418F7AD7-DC47-44A0-A9D7-F1C17BFD6F09}" type="slidenum">
              <a:rPr lang="en-GB" noProof="1" smtClean="0"/>
              <a:pPr/>
              <a:t>2</a:t>
            </a:fld>
            <a:endParaRPr lang="en-GB" noProof="1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1A7AC30-F672-1CED-8948-9BD5E10B966D}"/>
              </a:ext>
            </a:extLst>
          </p:cNvPr>
          <p:cNvSpPr/>
          <p:nvPr/>
        </p:nvSpPr>
        <p:spPr>
          <a:xfrm>
            <a:off x="11092984" y="608678"/>
            <a:ext cx="312732" cy="32431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500CA7F-54B4-D271-9A35-83A014411FBA}"/>
              </a:ext>
            </a:extLst>
          </p:cNvPr>
          <p:cNvSpPr txBox="1"/>
          <p:nvPr/>
        </p:nvSpPr>
        <p:spPr>
          <a:xfrm>
            <a:off x="3984870" y="1005441"/>
            <a:ext cx="14282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1"/>
              <a:t>La₃Ni₂O₇</a:t>
            </a:r>
          </a:p>
          <a:p>
            <a:r>
              <a:rPr lang="en-GB" noProof="1"/>
              <a:t>@ 14 GPa</a:t>
            </a:r>
            <a:endParaRPr lang="en-GB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21645EC-A102-6010-E785-7735BD0C44D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413129" y="770835"/>
            <a:ext cx="5616821" cy="6039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6880DABE-05A4-B9A7-4045-3273C8212DE7}"/>
              </a:ext>
            </a:extLst>
          </p:cNvPr>
          <p:cNvSpPr txBox="1"/>
          <p:nvPr/>
        </p:nvSpPr>
        <p:spPr>
          <a:xfrm>
            <a:off x="5568949" y="6232193"/>
            <a:ext cx="3759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noProof="1">
                <a:solidFill>
                  <a:schemeClr val="bg1"/>
                </a:solidFill>
              </a:rPr>
              <a:t>[4] H.Sun et al., </a:t>
            </a:r>
            <a:r>
              <a:rPr lang="de-AT" sz="1200" dirty="0">
                <a:solidFill>
                  <a:schemeClr val="bg1"/>
                </a:solidFill>
              </a:rPr>
              <a:t>Nature 621 (2023)</a:t>
            </a:r>
          </a:p>
          <a:p>
            <a:r>
              <a:rPr lang="de-AT" sz="1200" dirty="0">
                <a:solidFill>
                  <a:schemeClr val="bg1"/>
                </a:solidFill>
              </a:rPr>
              <a:t>[5] M. </a:t>
            </a:r>
            <a:r>
              <a:rPr lang="de-AT" sz="1200" dirty="0" err="1">
                <a:solidFill>
                  <a:schemeClr val="bg1"/>
                </a:solidFill>
              </a:rPr>
              <a:t>Kitatani</a:t>
            </a:r>
            <a:r>
              <a:rPr lang="de-AT" sz="1200" dirty="0">
                <a:solidFill>
                  <a:schemeClr val="bg1"/>
                </a:solidFill>
              </a:rPr>
              <a:t> et al., J. Phys. Mater 5 (2022)</a:t>
            </a:r>
            <a:endParaRPr lang="en-GB" sz="1200" noProof="1">
              <a:solidFill>
                <a:schemeClr val="bg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AD14679-2E79-6AF0-F358-460A5158A2AD}"/>
              </a:ext>
            </a:extLst>
          </p:cNvPr>
          <p:cNvSpPr txBox="1"/>
          <p:nvPr/>
        </p:nvSpPr>
        <p:spPr>
          <a:xfrm>
            <a:off x="1307065" y="6242926"/>
            <a:ext cx="3965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1">
                <a:solidFill>
                  <a:schemeClr val="bg1"/>
                </a:solidFill>
              </a:rPr>
              <a:t>[1] G. Rohringer et. al., Rev. Mod. Phys. 90 (2018)</a:t>
            </a:r>
            <a:endParaRPr lang="de-AT" sz="1200" dirty="0">
              <a:solidFill>
                <a:schemeClr val="bg1"/>
              </a:solidFill>
            </a:endParaRPr>
          </a:p>
          <a:p>
            <a:r>
              <a:rPr lang="de-AT" sz="1200" dirty="0">
                <a:solidFill>
                  <a:schemeClr val="bg1"/>
                </a:solidFill>
              </a:rPr>
              <a:t>[2] </a:t>
            </a:r>
            <a:r>
              <a:rPr lang="en-GB" sz="1200" noProof="1">
                <a:solidFill>
                  <a:schemeClr val="bg1"/>
                </a:solidFill>
              </a:rPr>
              <a:t>P. Worm, </a:t>
            </a:r>
            <a:r>
              <a:rPr lang="de-AT" sz="1200" dirty="0" err="1">
                <a:solidFill>
                  <a:schemeClr val="bg1"/>
                </a:solidFill>
              </a:rPr>
              <a:t>Zenodo</a:t>
            </a:r>
            <a:r>
              <a:rPr lang="de-AT" sz="1200" dirty="0">
                <a:solidFill>
                  <a:schemeClr val="bg1"/>
                </a:solidFill>
              </a:rPr>
              <a:t> (2023)</a:t>
            </a:r>
          </a:p>
          <a:p>
            <a:r>
              <a:rPr lang="de-AT" sz="1200" dirty="0">
                <a:solidFill>
                  <a:schemeClr val="bg1"/>
                </a:solidFill>
              </a:rPr>
              <a:t>[3] A. Galler et al., </a:t>
            </a:r>
            <a:r>
              <a:rPr lang="de-AT" sz="1200" dirty="0" err="1">
                <a:solidFill>
                  <a:schemeClr val="bg1"/>
                </a:solidFill>
              </a:rPr>
              <a:t>Comput</a:t>
            </a:r>
            <a:r>
              <a:rPr lang="de-AT" sz="1200" dirty="0">
                <a:solidFill>
                  <a:schemeClr val="bg1"/>
                </a:solidFill>
              </a:rPr>
              <a:t>. Phys. Commun. 245 (2019)</a:t>
            </a:r>
          </a:p>
          <a:p>
            <a:endParaRPr lang="de-AT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73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60D8-2410-9ED1-8ECA-312F961F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66C9769-C3E8-D30A-9BC7-64C288761D6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07065" y="1549399"/>
            <a:ext cx="9289498" cy="828675"/>
          </a:xfrm>
        </p:spPr>
        <p:txBody>
          <a:bodyPr/>
          <a:lstStyle/>
          <a:p>
            <a:r>
              <a:rPr lang="en-GB" noProof="1"/>
              <a:t>Implementation details </a:t>
            </a:r>
            <a:r>
              <a:rPr lang="en-GB" b="0" baseline="30000" noProof="1"/>
              <a:t>[6]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Inhaltsplatzhalter 8">
                <a:extLst>
                  <a:ext uri="{FF2B5EF4-FFF2-40B4-BE49-F238E27FC236}">
                    <a16:creationId xmlns:a16="http://schemas.microsoft.com/office/drawing/2014/main" id="{87A54069-44D7-0BA5-A8D5-B6702F7B64D5}"/>
                  </a:ext>
                </a:extLst>
              </p:cNvPr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1308100" y="2628900"/>
                <a:ext cx="9902887" cy="3095625"/>
              </a:xfrm>
            </p:spPr>
            <p:txBody>
              <a:bodyPr bIns="0"/>
              <a:lstStyle/>
              <a:p>
                <a:pPr>
                  <a:spcAft>
                    <a:spcPts val="600"/>
                  </a:spcAft>
                </a:pPr>
                <a:r>
                  <a:rPr lang="en-GB" noProof="1"/>
                  <a:t>From single- to multi-orbital:</a:t>
                </a:r>
              </a:p>
              <a:p>
                <a:pPr lvl="1"/>
                <a:r>
                  <a:rPr lang="en-GB" noProof="1"/>
                  <a:t>Green’s functions &amp; self-energies gain two orbital indices: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b="0" i="1" noProof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noProof="1"/>
                  <a:t> →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noProof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p>
                    </m:sSubSup>
                  </m:oMath>
                </a14:m>
                <a:endParaRPr lang="en-GB" noProof="1"/>
              </a:p>
              <a:p>
                <a:pPr lvl="1"/>
                <a:r>
                  <a:rPr lang="en-GB" noProof="1"/>
                  <a:t>Two-particle vertex functions gain four orbital indices: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i="1" noProof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qkk</m:t>
                        </m:r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noProof="1"/>
                  <a:t> →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noProof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1234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qkk</m:t>
                        </m:r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GB" noProof="1">
                  <a:ea typeface="Cambria Math" panose="02040503050406030204" pitchFamily="18" charset="0"/>
                </a:endParaRPr>
              </a:p>
              <a:p>
                <a:pPr lvl="1"/>
                <a:r>
                  <a:rPr lang="en-GB" noProof="1">
                    <a:ea typeface="Cambria Math" panose="02040503050406030204" pitchFamily="18" charset="0"/>
                  </a:rPr>
                  <a:t>Memory requirements </a:t>
                </a:r>
                <a:r>
                  <a:rPr lang="en-GB" sz="2400" b="1" noProof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↑</a:t>
                </a:r>
                <a:r>
                  <a:rPr lang="en-GB" noProof="1">
                    <a:ea typeface="Cambria Math" panose="02040503050406030204" pitchFamily="18" charset="0"/>
                  </a:rPr>
                  <a:t> and computation time </a:t>
                </a:r>
                <a:r>
                  <a:rPr lang="en-GB" sz="2400" b="1" noProof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↑</a:t>
                </a:r>
                <a:endParaRPr lang="en-GB" b="1" noProof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Cambria Math" panose="02040503050406030204" pitchFamily="18" charset="0"/>
                </a:endParaRPr>
              </a:p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en-GB" noProof="1">
                    <a:ea typeface="Cambria Math" panose="02040503050406030204" pitchFamily="18" charset="0"/>
                  </a:rPr>
                  <a:t>Multiplications include orbital contractions, e.g.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noProof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1234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de-AT" i="1" noProof="1">
                            <a:latin typeface="Cambria Math" panose="02040503050406030204" pitchFamily="18" charset="0"/>
                          </a:rPr>
                          <m:t>qkk</m:t>
                        </m:r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GB" noProof="1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noProof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de-AT" i="1" noProof="1">
                            <a:latin typeface="Cambria Math" panose="02040503050406030204" pitchFamily="18" charset="0"/>
                          </a:rPr>
                          <m:t>qk</m:t>
                        </m:r>
                        <m:sSub>
                          <m:sSubPr>
                            <m:ctrlPr>
                              <a:rPr lang="de-AT" i="1" noProof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AT" b="0" i="1" noProof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de-AT" b="0" i="1" noProof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GB" i="1" noProof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AT" b="0" i="1" noProof="1" smtClean="0">
                            <a:latin typeface="Cambria Math" panose="02040503050406030204" pitchFamily="18" charset="0"/>
                          </a:rPr>
                          <m:t>ba</m:t>
                        </m:r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34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de-AT" i="1" noProof="1">
                            <a:latin typeface="Cambria Math" panose="02040503050406030204" pitchFamily="18" charset="0"/>
                          </a:rPr>
                          <m:t>q</m:t>
                        </m:r>
                        <m:sSub>
                          <m:sSubPr>
                            <m:ctrlPr>
                              <a:rPr lang="de-AT" i="1" noProof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AT" b="0" i="1" noProof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de-AT" b="0" i="1" noProof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AT" i="1" noProof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de-AT" b="0" i="1" noProof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GB" noProof="1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noProof="1">
                    <a:ea typeface="Cambria Math" panose="02040503050406030204" pitchFamily="18" charset="0"/>
                  </a:rPr>
                  <a:t>Parallelized code that takes advantage of system symmetries                      (e.g. full </a:t>
                </a:r>
                <a:r>
                  <a:rPr lang="en-GB" noProof="1"/>
                  <a:t>→ irreducible Brillouin zone, frequency symmetries, …)</a:t>
                </a:r>
                <a:endParaRPr lang="en-GB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Inhaltsplatzhalter 8">
                <a:extLst>
                  <a:ext uri="{FF2B5EF4-FFF2-40B4-BE49-F238E27FC236}">
                    <a16:creationId xmlns:a16="http://schemas.microsoft.com/office/drawing/2014/main" id="{87A54069-44D7-0BA5-A8D5-B6702F7B6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6"/>
                </p:custDataLst>
              </p:nvPr>
            </p:nvSpPr>
            <p:spPr>
              <a:xfrm>
                <a:off x="1308100" y="2628900"/>
                <a:ext cx="9902887" cy="3095625"/>
              </a:xfrm>
              <a:blipFill>
                <a:blip r:embed="rId7"/>
                <a:stretch>
                  <a:fillRect l="-1478" t="-3740" b="-3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8DA1A2-6901-775A-8979-33F7C42E2D0B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>
          <a:xfrm>
            <a:off x="10885488" y="6385768"/>
            <a:ext cx="827086" cy="288000"/>
          </a:xfrm>
        </p:spPr>
        <p:txBody>
          <a:bodyPr/>
          <a:lstStyle/>
          <a:p>
            <a:fld id="{418F7AD7-DC47-44A0-A9D7-F1C17BFD6F09}" type="slidenum">
              <a:rPr lang="en-GB" noProof="1" smtClean="0"/>
              <a:pPr/>
              <a:t>3</a:t>
            </a:fld>
            <a:endParaRPr lang="en-GB" noProof="1"/>
          </a:p>
        </p:txBody>
      </p:sp>
      <p:pic>
        <p:nvPicPr>
          <p:cNvPr id="8" name="Grafik 7" descr="Ein Bild, das Text, Schrif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2728B4CA-21B6-AD54-4D96-4E77D4C592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494" y="1199291"/>
            <a:ext cx="4082481" cy="1528889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2D6B0E4C-D0A6-0938-D770-036C4A01C3F3}"/>
              </a:ext>
            </a:extLst>
          </p:cNvPr>
          <p:cNvSpPr txBox="1"/>
          <p:nvPr/>
        </p:nvSpPr>
        <p:spPr>
          <a:xfrm>
            <a:off x="1307065" y="6252769"/>
            <a:ext cx="3385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1">
                <a:solidFill>
                  <a:schemeClr val="bg1"/>
                </a:solidFill>
              </a:rPr>
              <a:t>[6] https://github.com/Julpe/moLDGA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59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A40B31D-70C2-4C66-82F6-736B7ECAB0B5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"/>
            </p:custDataLst>
          </p:nvPr>
        </p:nvSpPr>
        <p:spPr>
          <a:xfrm>
            <a:off x="10885488" y="6385768"/>
            <a:ext cx="827086" cy="288000"/>
          </a:xfrm>
        </p:spPr>
        <p:txBody>
          <a:bodyPr/>
          <a:lstStyle/>
          <a:p>
            <a:fld id="{418F7AD7-DC47-44A0-A9D7-F1C17BFD6F09}" type="slidenum">
              <a:rPr lang="de-DE" noProof="1" smtClean="0"/>
              <a:pPr/>
              <a:t>4</a:t>
            </a:fld>
            <a:endParaRPr lang="de-DE" noProof="1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785CCA3-738C-4EC7-80D0-7D6C5D647CA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1549400"/>
            <a:ext cx="4464050" cy="828675"/>
          </a:xfrm>
        </p:spPr>
        <p:txBody>
          <a:bodyPr/>
          <a:lstStyle/>
          <a:p>
            <a:r>
              <a:rPr lang="de-DE" noProof="1"/>
              <a:t>Benchmarks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6A73FB0-2A09-4CFF-932F-B7F2E7E5E3D4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308100" y="2628900"/>
            <a:ext cx="4464051" cy="310356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de-DE" noProof="1"/>
              <a:t>Agreement with single-band code up to numerical precision [1]</a:t>
            </a:r>
          </a:p>
          <a:p>
            <a:pPr>
              <a:spcAft>
                <a:spcPts val="1200"/>
              </a:spcAft>
            </a:pPr>
            <a:r>
              <a:rPr lang="de-DE" noProof="1"/>
              <a:t>Correct decoupling for disconnected two-band tests</a:t>
            </a:r>
          </a:p>
          <a:p>
            <a:pPr>
              <a:spcAft>
                <a:spcPts val="1200"/>
              </a:spcAft>
            </a:pPr>
            <a:r>
              <a:rPr lang="de-DE" noProof="1"/>
              <a:t>Performance: ~12 h → ~30 min for low-temperature data compared to [1]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A7E6A7-4654-435F-9732-43AA44282F79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4"/>
            </p:custDataLst>
          </p:nvPr>
        </p:nvSpPr>
        <p:spPr>
          <a:xfrm>
            <a:off x="6419849" y="1549401"/>
            <a:ext cx="4464000" cy="828674"/>
          </a:xfrm>
        </p:spPr>
        <p:txBody>
          <a:bodyPr/>
          <a:lstStyle/>
          <a:p>
            <a:r>
              <a:rPr lang="de-DE" noProof="1"/>
              <a:t>Outlook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4B2DCC-17A1-4F36-BD71-1F706BF2A8AC}"/>
              </a:ext>
            </a:extLst>
          </p:cNvPr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419849" y="2628900"/>
            <a:ext cx="4464000" cy="310356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de-DE" noProof="1"/>
              <a:t>Testing limits of the code</a:t>
            </a:r>
          </a:p>
          <a:p>
            <a:pPr>
              <a:spcAft>
                <a:spcPts val="1200"/>
              </a:spcAft>
            </a:pPr>
            <a:r>
              <a:rPr lang="de-DE" noProof="1"/>
              <a:t>Benchmarks against multi-orbital calculations performed by [2, 7] (SrVO</a:t>
            </a:r>
            <a:r>
              <a:rPr lang="de-DE" sz="2400" noProof="1"/>
              <a:t>₃</a:t>
            </a:r>
            <a:r>
              <a:rPr lang="de-DE" noProof="1"/>
              <a:t>)</a:t>
            </a:r>
          </a:p>
          <a:p>
            <a:r>
              <a:rPr lang="de-DE" noProof="1"/>
              <a:t>Calculation of realistic materials (especially </a:t>
            </a:r>
            <a:r>
              <a:rPr lang="de-DE" sz="2000" noProof="1"/>
              <a:t>La₃Ni₂O₇)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1D431BA-00FD-DC14-799C-4971611CD332}"/>
              </a:ext>
            </a:extLst>
          </p:cNvPr>
          <p:cNvSpPr txBox="1"/>
          <p:nvPr/>
        </p:nvSpPr>
        <p:spPr>
          <a:xfrm>
            <a:off x="1308100" y="6211669"/>
            <a:ext cx="3930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noProof="1">
                <a:solidFill>
                  <a:schemeClr val="bg1"/>
                </a:solidFill>
              </a:rPr>
              <a:t>[1] </a:t>
            </a:r>
            <a:r>
              <a:rPr lang="en-GB" sz="1200" noProof="1">
                <a:solidFill>
                  <a:schemeClr val="bg1"/>
                </a:solidFill>
              </a:rPr>
              <a:t>P. Worm, </a:t>
            </a:r>
            <a:r>
              <a:rPr lang="de-AT" sz="1200" dirty="0" err="1">
                <a:solidFill>
                  <a:schemeClr val="bg1"/>
                </a:solidFill>
              </a:rPr>
              <a:t>Zenodo</a:t>
            </a:r>
            <a:r>
              <a:rPr lang="de-AT" sz="1200" dirty="0">
                <a:solidFill>
                  <a:schemeClr val="bg1"/>
                </a:solidFill>
              </a:rPr>
              <a:t> (2023)</a:t>
            </a:r>
            <a:r>
              <a:rPr lang="de-DE" sz="1200" noProof="1">
                <a:solidFill>
                  <a:schemeClr val="bg1"/>
                </a:solidFill>
              </a:rPr>
              <a:t>	</a:t>
            </a:r>
          </a:p>
          <a:p>
            <a:r>
              <a:rPr lang="de-DE" sz="1200" noProof="1">
                <a:solidFill>
                  <a:schemeClr val="bg1"/>
                </a:solidFill>
              </a:rPr>
              <a:t>[2] </a:t>
            </a:r>
            <a:r>
              <a:rPr lang="de-AT" sz="1200" dirty="0">
                <a:solidFill>
                  <a:schemeClr val="bg1"/>
                </a:solidFill>
              </a:rPr>
              <a:t>A. Galler et al., </a:t>
            </a:r>
            <a:r>
              <a:rPr lang="de-AT" sz="1200" dirty="0" err="1">
                <a:solidFill>
                  <a:schemeClr val="bg1"/>
                </a:solidFill>
              </a:rPr>
              <a:t>Comput</a:t>
            </a:r>
            <a:r>
              <a:rPr lang="de-AT" sz="1200" dirty="0">
                <a:solidFill>
                  <a:schemeClr val="bg1"/>
                </a:solidFill>
              </a:rPr>
              <a:t>. Phys. Commun. 245 (2019)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110D172B-FA87-6563-6FE4-8E04CDD334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119" y="2931295"/>
            <a:ext cx="367091" cy="367091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3311BEC-2028-58C8-62DF-6C48F96AB8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119" y="3568571"/>
            <a:ext cx="367091" cy="36709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D7AE9BE-916A-18FA-88AC-CD13BFA6A2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8402" y="144782"/>
            <a:ext cx="3970625" cy="2484118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51875A9B-48CA-21CD-8079-248A13EEDD66}"/>
              </a:ext>
            </a:extLst>
          </p:cNvPr>
          <p:cNvSpPr txBox="1"/>
          <p:nvPr/>
        </p:nvSpPr>
        <p:spPr>
          <a:xfrm>
            <a:off x="5569078" y="6238886"/>
            <a:ext cx="3759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>
                <a:solidFill>
                  <a:schemeClr val="bg1"/>
                </a:solidFill>
              </a:rPr>
              <a:t>[7] J. Kaufmann et. al., Phys. Rev. B 103 (2021)  </a:t>
            </a:r>
          </a:p>
          <a:p>
            <a:r>
              <a:rPr lang="de-AT" sz="1200" noProof="1">
                <a:solidFill>
                  <a:schemeClr val="bg1"/>
                </a:solidFill>
              </a:rPr>
              <a:t>[8] Y. Zhang et al., </a:t>
            </a:r>
            <a:r>
              <a:rPr lang="de-AT" sz="1200" dirty="0">
                <a:solidFill>
                  <a:schemeClr val="bg1"/>
                </a:solidFill>
              </a:rPr>
              <a:t>Nature 20 (2024)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D57B023-FA38-B8BE-B26D-8A6C071DE347}"/>
              </a:ext>
            </a:extLst>
          </p:cNvPr>
          <p:cNvSpPr txBox="1"/>
          <p:nvPr/>
        </p:nvSpPr>
        <p:spPr>
          <a:xfrm>
            <a:off x="11434317" y="2324391"/>
            <a:ext cx="6491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405481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E98F1-6758-A7D6-7C88-E506D2E9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Summary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9E940E-9765-7A4E-94C8-7F75D0B16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  <a:p>
            <a:pPr lvl="1"/>
            <a:r>
              <a:rPr lang="en-GB" dirty="0"/>
              <a:t>Study realistic multi-orbital materials </a:t>
            </a:r>
            <a:r>
              <a:rPr lang="en-GB" noProof="1"/>
              <a:t>(e.g. La₃Ni₂O₇) with D</a:t>
            </a:r>
            <a:r>
              <a:rPr lang="en-GB" sz="2200" noProof="1">
                <a:latin typeface="Algerian" panose="04020705040A02060702" pitchFamily="82" charset="0"/>
              </a:rPr>
              <a:t>Γ</a:t>
            </a:r>
            <a:r>
              <a:rPr lang="en-GB" noProof="1"/>
              <a:t>A</a:t>
            </a:r>
          </a:p>
          <a:p>
            <a:r>
              <a:rPr lang="en-GB" noProof="1"/>
              <a:t>Implementation </a:t>
            </a:r>
          </a:p>
          <a:p>
            <a:pPr lvl="1"/>
            <a:r>
              <a:rPr lang="en-GB" noProof="1"/>
              <a:t>Additional orbital degrees of freedom</a:t>
            </a:r>
          </a:p>
          <a:p>
            <a:pPr lvl="1"/>
            <a:r>
              <a:rPr lang="en-GB" noProof="1"/>
              <a:t>Taking advantage of system symmetries</a:t>
            </a:r>
          </a:p>
          <a:p>
            <a:r>
              <a:rPr lang="en-GB" noProof="1"/>
              <a:t>Successful execution of benchmarks</a:t>
            </a:r>
          </a:p>
          <a:p>
            <a:pPr lvl="1"/>
            <a:r>
              <a:rPr lang="en-GB" noProof="1"/>
              <a:t>Single- and two-orbital calculations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294F6C-7FF7-8244-7EE4-1FA13E7A52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5</a:t>
            </a:fld>
            <a:endParaRPr lang="de-AT" dirty="0"/>
          </a:p>
        </p:txBody>
      </p:sp>
      <p:pic>
        <p:nvPicPr>
          <p:cNvPr id="7" name="Grafik 6" descr="Ein Bild, das Grafikdesign, Grafiken, Farbigkeit, Kunst enthält.&#10;&#10;KI-generierte Inhalte können fehlerhaft sein.">
            <a:extLst>
              <a:ext uri="{FF2B5EF4-FFF2-40B4-BE49-F238E27FC236}">
                <a16:creationId xmlns:a16="http://schemas.microsoft.com/office/drawing/2014/main" id="{9F405751-EAA6-9F9A-187C-133CEB599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42009"/>
            <a:ext cx="5215382" cy="291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4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D92750E-C788-BF81-DA82-6DFE38DE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C4FCF2A-E707-DBE6-A82B-BD4EDBFD1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Multi-orbital Hubbard Model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097C8CA-66D8-D06F-4F43-62FEBBEBA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3130941"/>
            <a:ext cx="7558574" cy="230990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D0264B5-167D-B6B9-074F-27A4B3DC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478" y="445502"/>
            <a:ext cx="4359951" cy="230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545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LANG_DEF" val="3079"/>
  <p:tag name="LANG_NAME" val="German Austria"/>
  <p:tag name="MASTCOUNT" val="1"/>
  <p:tag name="DES1LAYOUTCOUNT" val="33"/>
  <p:tag name="LINGO_COUNT" val="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TU Wien">
  <a:themeElements>
    <a:clrScheme name="TU Wien">
      <a:dk1>
        <a:srgbClr val="000000"/>
      </a:dk1>
      <a:lt1>
        <a:srgbClr val="FFFFFF"/>
      </a:lt1>
      <a:dk2>
        <a:srgbClr val="006699"/>
      </a:dk2>
      <a:lt2>
        <a:srgbClr val="DFF2FD"/>
      </a:lt2>
      <a:accent1>
        <a:srgbClr val="006699"/>
      </a:accent1>
      <a:accent2>
        <a:srgbClr val="72ADD5"/>
      </a:accent2>
      <a:accent3>
        <a:srgbClr val="A6D5EC"/>
      </a:accent3>
      <a:accent4>
        <a:srgbClr val="DFF2FD"/>
      </a:accent4>
      <a:accent5>
        <a:srgbClr val="646363"/>
      </a:accent5>
      <a:accent6>
        <a:srgbClr val="5485AB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5485AB"/>
    </a:custClr>
    <a:custClr name="Blau 2">
      <a:srgbClr val="72ADD5"/>
    </a:custClr>
    <a:custClr name="Blau 3">
      <a:srgbClr val="A6D5EC"/>
    </a:custClr>
    <a:custClr name="Blau 4">
      <a:srgbClr val="DFF2FD"/>
    </a:custClr>
    <a:custClr name="Grün 1">
      <a:srgbClr val="007E71"/>
    </a:custClr>
    <a:custClr name="Grün 2">
      <a:srgbClr val="6AAAA5"/>
    </a:custClr>
    <a:custClr name="Grün 3">
      <a:srgbClr val="A2C6C2"/>
    </a:custClr>
    <a:custClr name="Grün 4">
      <a:srgbClr val="E9F1F0"/>
    </a:custClr>
    <a:custClr name="Magenta 1">
      <a:srgbClr val="BA4682"/>
    </a:custClr>
    <a:custClr name="Magenta 2">
      <a:srgbClr val="CD81A8"/>
    </a:custClr>
    <a:custClr name="Magenta 3">
      <a:srgbClr val="DFAFCA"/>
    </a:custClr>
    <a:custClr name="Magenta 4">
      <a:srgbClr val="F5E5EF"/>
    </a:custClr>
    <a:custClr name="Orange 1">
      <a:srgbClr val="E18922"/>
    </a:custClr>
    <a:custClr name="Orange 2">
      <a:srgbClr val="EEB473"/>
    </a:custClr>
    <a:custClr name="Orange 3">
      <a:srgbClr val="F5D0A8"/>
    </a:custClr>
    <a:custClr name="Orange 4">
      <a:srgbClr val="FDEFE1"/>
    </a:custClr>
    <a:custClr name="Grau 1">
      <a:srgbClr val="646363"/>
    </a:custClr>
    <a:custClr name="Grau 2">
      <a:srgbClr val="9D9D9C"/>
    </a:custClr>
    <a:custClr name="Grau 3">
      <a:srgbClr val="D0D0D0"/>
    </a:custClr>
    <a:custClr name="Grau 4">
      <a:srgbClr val="EDEDED"/>
    </a:custClr>
  </a:custClrLst>
  <a:extLst>
    <a:ext uri="{05A4C25C-085E-4340-85A3-A5531E510DB2}">
      <thm15:themeFamily xmlns:thm15="http://schemas.microsoft.com/office/thememl/2012/main" name="TUW_Musterpraesentation.potx" id="{2E710E09-D0C1-444E-9EE2-99D6F66FD162}" vid="{BCCD5661-7924-46E1-AD3D-9AC2BD2CC4A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Diplompräsentation</Template>
  <TotalTime>0</TotalTime>
  <Words>460</Words>
  <Application>Microsoft Office PowerPoint</Application>
  <PresentationFormat>Widescreen</PresentationFormat>
  <Paragraphs>60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TU Wien</vt:lpstr>
      <vt:lpstr> Multi-orbital  dynamical vertex approximation (DΓA)</vt:lpstr>
      <vt:lpstr>Motivation</vt:lpstr>
      <vt:lpstr>Implementation details [6]</vt:lpstr>
      <vt:lpstr>Benchmarks</vt:lpstr>
      <vt:lpstr>Summary</vt:lpstr>
      <vt:lpstr>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Peil</dc:creator>
  <cp:lastModifiedBy>Julian Peil</cp:lastModifiedBy>
  <cp:revision>58</cp:revision>
  <cp:lastPrinted>2025-11-10T12:19:56Z</cp:lastPrinted>
  <dcterms:created xsi:type="dcterms:W3CDTF">2025-11-04T09:23:40Z</dcterms:created>
  <dcterms:modified xsi:type="dcterms:W3CDTF">2026-01-05T09:08:36Z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0x01010047F7283A7873274F8E189EC753F03E5A</vt:lpwstr>
  </property>
</Properties>
</file>